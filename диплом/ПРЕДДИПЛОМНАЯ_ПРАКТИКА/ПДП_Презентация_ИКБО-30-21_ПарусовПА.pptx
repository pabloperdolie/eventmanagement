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77" r:id="rId2"/>
    <p:sldId id="257" r:id="rId3"/>
    <p:sldId id="278" r:id="rId4"/>
    <p:sldId id="258" r:id="rId5"/>
    <p:sldId id="279" r:id="rId6"/>
    <p:sldId id="259" r:id="rId7"/>
    <p:sldId id="260" r:id="rId8"/>
    <p:sldId id="261" r:id="rId9"/>
    <p:sldId id="262" r:id="rId10"/>
    <p:sldId id="264" r:id="rId11"/>
    <p:sldId id="266" r:id="rId12"/>
    <p:sldId id="280" r:id="rId13"/>
    <p:sldId id="270" r:id="rId14"/>
    <p:sldId id="274" r:id="rId15"/>
    <p:sldId id="275" r:id="rId16"/>
    <p:sldId id="282" r:id="rId17"/>
    <p:sldId id="281" r:id="rId18"/>
    <p:sldId id="268" r:id="rId19"/>
  </p:sldIdLst>
  <p:sldSz cx="12192000" cy="6858000"/>
  <p:notesSz cx="12192000" cy="6858000"/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35" autoAdjust="0"/>
    <p:restoredTop sz="94660"/>
  </p:normalViewPr>
  <p:slideViewPr>
    <p:cSldViewPr>
      <p:cViewPr varScale="1">
        <p:scale>
          <a:sx n="106" d="100"/>
          <a:sy n="106" d="100"/>
        </p:scale>
        <p:origin x="144" y="102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7E861D3-3E0C-BF76-AF19-E5A804E1E66F}" type="slidenum">
              <a:rPr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10836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41D539-708E-0632-BA49-0B2AE60377CB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41D539-708E-0632-BA49-0B2AE60377CB}" type="slidenum">
              <a:rPr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071040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FEF5DBF-7313-7B2E-AA1B-E2B06F90929F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FEF5DBF-7313-7B2E-AA1B-E2B06F90929F}" type="slidenum">
              <a:rPr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3023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1629140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8165494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23421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491C347-00C0-4B8A-FF35-E94AF5AB7D37}" type="slidenum">
              <a:rPr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6E361F-6205-55B0-D9A8-064614F0DC1C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E769DAD-6F5B-A6AC-0287-F1FB10034F69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2508985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9823695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47592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6BB100-CEA1-CB5C-FAB8-1F2E60428D0E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9502858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9610669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10430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B07EA61-DAD5-8ABB-DCC4-6BD4531174B2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3319609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610617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47759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C87A2D-16F0-FA64-A6A5-CAB93245E132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3319609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610617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47759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C87A2D-16F0-FA64-A6A5-CAB93245E132}" type="slidenum">
              <a:rPr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076699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3319609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610617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47759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C87A2D-16F0-FA64-A6A5-CAB93245E132}" type="slidenum">
              <a:rPr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079628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3319609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610617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47759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C87A2D-16F0-FA64-A6A5-CAB93245E132}" type="slidenum">
              <a:rPr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615186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3319609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610617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47759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C87A2D-16F0-FA64-A6A5-CAB93245E132}" type="slidenum">
              <a:rPr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878454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3319609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610617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47759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C87A2D-16F0-FA64-A6A5-CAB93245E132}" type="slidenum">
              <a:rPr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338096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3319609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610617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47759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C87A2D-16F0-FA64-A6A5-CAB93245E132}" type="slidenum">
              <a:rPr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183275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4B2BDF-489E-293C-E883-56F4207BFD98}" type="slidenum">
              <a:rPr/>
              <a:t>18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 bwMode="auto">
          <a:xfrm>
            <a:off x="4830318" y="647446"/>
            <a:ext cx="2531363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 bwMode="auto"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5/17/2025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2380"/>
              </a:lnSpc>
              <a:defRPr/>
            </a:pPr>
            <a:fld id="{81D60167-4931-47E6-BA6A-407CBD079E4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 bwMode="auto"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 bwMode="auto"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5/17/2025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2380"/>
              </a:lnSpc>
              <a:defRPr/>
            </a:pPr>
            <a:fld id="{81D60167-4931-47E6-BA6A-407CBD079E4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 bwMode="auto"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 bwMode="auto"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 bwMode="auto"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5/17/2025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2380"/>
              </a:lnSpc>
              <a:defRPr/>
            </a:pPr>
            <a:fld id="{81D60167-4931-47E6-BA6A-407CBD079E4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obj" preserve="1" userDrawn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 bwMode="auto"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5/17/2025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2380"/>
              </a:lnSpc>
              <a:defRPr/>
            </a:pPr>
            <a:fld id="{81D60167-4931-47E6-BA6A-407CBD079E4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obj" preserve="1" userDrawn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5/17/2025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2380"/>
              </a:lnSpc>
              <a:defRPr/>
            </a:pPr>
            <a:fld id="{81D60167-4931-47E6-BA6A-407CBD079E4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/>
          <a:stretch/>
        </p:blipFill>
        <p:spPr bwMode="auto">
          <a:xfrm>
            <a:off x="11119104" y="42671"/>
            <a:ext cx="865631" cy="98450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 bwMode="auto">
          <a:xfrm>
            <a:off x="4830318" y="647446"/>
            <a:ext cx="2531363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 bwMode="auto">
          <a:xfrm>
            <a:off x="919479" y="1682068"/>
            <a:ext cx="10353040" cy="38061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5/17/2025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11075161" y="5942482"/>
            <a:ext cx="231140" cy="330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2380"/>
              </a:lnSpc>
              <a:defRPr/>
            </a:pPr>
            <a:fld id="{81D60167-4931-47E6-BA6A-407CBD079E47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/>
          <p:nvPr/>
        </p:nvPicPr>
        <p:blipFill>
          <a:blip r:embed="rId3"/>
          <a:stretch/>
        </p:blipFill>
        <p:spPr bwMode="auto">
          <a:xfrm>
            <a:off x="5650865" y="261505"/>
            <a:ext cx="890270" cy="1009015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 bwMode="auto">
          <a:xfrm rot="10800000" flipV="1">
            <a:off x="1803348" y="1270520"/>
            <a:ext cx="8184714" cy="170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ctr">
              <a:spcAft>
                <a:spcPts val="0"/>
              </a:spcAft>
              <a:defRPr/>
            </a:pPr>
            <a:r>
              <a:rPr lang="ru-RU" sz="1400" dirty="0">
                <a:latin typeface="Times New Roman"/>
                <a:ea typeface="Times New Roman"/>
                <a:cs typeface="Times New Roman"/>
              </a:rPr>
              <a:t>МИНОБРНАУКИ РОССИИ</a:t>
            </a:r>
            <a:endParaRPr dirty="0"/>
          </a:p>
          <a:p>
            <a:pPr indent="450215" algn="ctr">
              <a:spcAft>
                <a:spcPts val="0"/>
              </a:spcAft>
              <a:defRPr/>
            </a:pPr>
            <a:r>
              <a:rPr lang="ru-RU" sz="1400" spc="-10" dirty="0">
                <a:latin typeface="Times New Roman"/>
                <a:ea typeface="Times New Roman"/>
                <a:cs typeface="Times New Roman"/>
              </a:rPr>
              <a:t>Федеральное государственное бюджетное образовательное учреждение</a:t>
            </a:r>
            <a:endParaRPr lang="ru-RU" sz="1400" dirty="0">
              <a:latin typeface="Times New Roman"/>
              <a:ea typeface="Calibri"/>
              <a:cs typeface="Times New Roman"/>
            </a:endParaRPr>
          </a:p>
          <a:p>
            <a:pPr indent="450215" algn="ctr">
              <a:spcAft>
                <a:spcPts val="0"/>
              </a:spcAft>
              <a:defRPr/>
            </a:pPr>
            <a:r>
              <a:rPr lang="ru-RU" sz="1400" spc="-10" dirty="0">
                <a:latin typeface="Times New Roman"/>
                <a:ea typeface="Times New Roman"/>
                <a:cs typeface="Times New Roman"/>
              </a:rPr>
              <a:t>высшего образования</a:t>
            </a:r>
            <a:endParaRPr lang="ru-RU" sz="1400" dirty="0">
              <a:latin typeface="Times New Roman"/>
              <a:ea typeface="Calibri"/>
              <a:cs typeface="Times New Roman"/>
            </a:endParaRPr>
          </a:p>
          <a:p>
            <a:pPr indent="450215" algn="ctr">
              <a:spcAft>
                <a:spcPts val="0"/>
              </a:spcAft>
              <a:defRPr/>
            </a:pPr>
            <a:r>
              <a:rPr lang="ru-RU" sz="1400" b="1" dirty="0">
                <a:latin typeface="Times New Roman"/>
                <a:ea typeface="Times New Roman"/>
                <a:cs typeface="Times New Roman"/>
              </a:rPr>
              <a:t>«МИРЭА – Российский технологический университет»</a:t>
            </a:r>
            <a:endParaRPr lang="ru-RU" sz="1400" dirty="0">
              <a:latin typeface="Times New Roman"/>
              <a:ea typeface="Calibri"/>
              <a:cs typeface="Times New Roman"/>
            </a:endParaRPr>
          </a:p>
          <a:p>
            <a:pPr indent="450215" algn="ctr">
              <a:spcAft>
                <a:spcPts val="0"/>
              </a:spcAft>
              <a:defRPr/>
            </a:pPr>
            <a:r>
              <a:rPr lang="ru-RU" sz="1400" b="1" spc="-30" dirty="0">
                <a:latin typeface="Times New Roman"/>
                <a:ea typeface="Times New Roman"/>
                <a:cs typeface="Times New Roman"/>
              </a:rPr>
              <a:t>РТУ МИРЭА</a:t>
            </a:r>
            <a:endParaRPr lang="ru-RU" sz="1400" dirty="0">
              <a:latin typeface="Times New Roman"/>
              <a:ea typeface="Calibri"/>
              <a:cs typeface="Times New Roman"/>
            </a:endParaRPr>
          </a:p>
          <a:p>
            <a:pPr indent="450215" algn="ctr">
              <a:lnSpc>
                <a:spcPct val="150000"/>
              </a:lnSpc>
              <a:spcAft>
                <a:spcPts val="0"/>
              </a:spcAft>
              <a:defRPr/>
            </a:pPr>
            <a:r>
              <a:rPr lang="ru-RU" sz="1400" dirty="0">
                <a:latin typeface="Times New Roman"/>
                <a:ea typeface="Times New Roman"/>
                <a:cs typeface="Times New Roman"/>
              </a:rPr>
              <a:t>Институт информационных технологий</a:t>
            </a:r>
            <a:endParaRPr lang="ru-RU" sz="1400" dirty="0">
              <a:latin typeface="Times New Roman"/>
              <a:ea typeface="Calibri"/>
              <a:cs typeface="Times New Roman"/>
            </a:endParaRPr>
          </a:p>
          <a:p>
            <a:pPr>
              <a:defRPr/>
            </a:pPr>
            <a:r>
              <a:rPr lang="ru-RU" sz="1400" dirty="0">
                <a:latin typeface="Times New Roman"/>
                <a:ea typeface="Times New Roman"/>
              </a:rPr>
              <a:t>                                  Кафедра инструментального и прикладного программного обеспечения </a:t>
            </a:r>
            <a:endParaRPr lang="ru-RU" sz="1400" dirty="0"/>
          </a:p>
        </p:txBody>
      </p:sp>
      <p:cxnSp>
        <p:nvCxnSpPr>
          <p:cNvPr id="9" name="Прямая соединительная линия 8"/>
          <p:cNvCxnSpPr>
            <a:cxnSpLocks/>
          </p:cNvCxnSpPr>
          <p:nvPr/>
        </p:nvCxnSpPr>
        <p:spPr bwMode="auto">
          <a:xfrm>
            <a:off x="2928000" y="2974285"/>
            <a:ext cx="6336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/>
          <p:cNvCxnSpPr>
            <a:cxnSpLocks/>
          </p:cNvCxnSpPr>
          <p:nvPr/>
        </p:nvCxnSpPr>
        <p:spPr bwMode="auto">
          <a:xfrm>
            <a:off x="2928000" y="2440885"/>
            <a:ext cx="6336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Прямоугольник 10"/>
          <p:cNvSpPr/>
          <p:nvPr/>
        </p:nvSpPr>
        <p:spPr bwMode="auto">
          <a:xfrm>
            <a:off x="3240593" y="3233449"/>
            <a:ext cx="56107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0165" algn="ctr">
              <a:spcAft>
                <a:spcPts val="0"/>
              </a:spcAft>
              <a:defRPr/>
            </a:pPr>
            <a:r>
              <a:rPr lang="ru-RU" b="1" dirty="0">
                <a:latin typeface="Times New Roman"/>
                <a:ea typeface="Times New Roman"/>
              </a:rPr>
              <a:t>ВЫПУСКНАЯ КВАЛИФИКАЦИОННАЯ РАБОТА</a:t>
            </a:r>
            <a:endParaRPr lang="ru-RU" sz="1400" dirty="0">
              <a:latin typeface="Times New Roman"/>
              <a:ea typeface="Times New Roman"/>
            </a:endParaRPr>
          </a:p>
        </p:txBody>
      </p:sp>
      <p:sp>
        <p:nvSpPr>
          <p:cNvPr id="12" name="Прямоугольник 11"/>
          <p:cNvSpPr/>
          <p:nvPr/>
        </p:nvSpPr>
        <p:spPr bwMode="auto">
          <a:xfrm>
            <a:off x="609599" y="3687380"/>
            <a:ext cx="10972800" cy="9662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0165" algn="ctr">
              <a:lnSpc>
                <a:spcPct val="150000"/>
              </a:lnSpc>
              <a:spcAft>
                <a:spcPts val="0"/>
              </a:spcAft>
              <a:defRPr/>
            </a:pPr>
            <a:r>
              <a:rPr lang="ru-RU" sz="2000" b="1" dirty="0" smtClean="0">
                <a:latin typeface="Times New Roman"/>
                <a:ea typeface="Times New Roman"/>
              </a:rPr>
              <a:t>На тему: «</a:t>
            </a:r>
            <a:r>
              <a:rPr lang="ru-RU" dirty="0">
                <a:solidFill>
                  <a:srgbClr val="000000"/>
                </a:solidFill>
                <a:latin typeface="Times New Roman"/>
                <a:ea typeface="Times New Roman"/>
              </a:rPr>
              <a:t>Веб-приложение для управления групповыми мероприятиями с функциями разделения бюджета и отслеживания </a:t>
            </a:r>
            <a:r>
              <a:rPr lang="ru-RU" dirty="0" smtClean="0">
                <a:solidFill>
                  <a:srgbClr val="000000"/>
                </a:solidFill>
                <a:latin typeface="Times New Roman"/>
                <a:ea typeface="Times New Roman"/>
              </a:rPr>
              <a:t>задач</a:t>
            </a:r>
            <a:r>
              <a:rPr lang="ru-RU" sz="2000" dirty="0" smtClean="0">
                <a:latin typeface="Times New Roman"/>
                <a:ea typeface="Times New Roman"/>
              </a:rPr>
              <a:t>»</a:t>
            </a:r>
            <a:endParaRPr dirty="0"/>
          </a:p>
        </p:txBody>
      </p:sp>
      <p:sp>
        <p:nvSpPr>
          <p:cNvPr id="13" name="Прямоугольник 12"/>
          <p:cNvSpPr/>
          <p:nvPr/>
        </p:nvSpPr>
        <p:spPr bwMode="auto">
          <a:xfrm>
            <a:off x="5188696" y="5411743"/>
            <a:ext cx="6811714" cy="8412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lnSpc>
                <a:spcPct val="150000"/>
              </a:lnSpc>
              <a:spcAft>
                <a:spcPts val="800"/>
              </a:spcAft>
              <a:defRPr/>
            </a:pPr>
            <a:r>
              <a:rPr lang="ru-RU" sz="1400" b="1" dirty="0">
                <a:latin typeface="Times New Roman"/>
                <a:ea typeface="Calibri"/>
                <a:cs typeface="Times New Roman"/>
              </a:rPr>
              <a:t>Руководитель</a:t>
            </a:r>
            <a:r>
              <a:rPr lang="en-US" sz="1400" b="1" dirty="0">
                <a:latin typeface="Times New Roman"/>
                <a:ea typeface="Calibri"/>
                <a:cs typeface="Times New Roman"/>
              </a:rPr>
              <a:t> </a:t>
            </a:r>
            <a:r>
              <a:rPr lang="ru-RU" sz="1400" b="1" dirty="0">
                <a:latin typeface="Times New Roman"/>
                <a:ea typeface="Calibri"/>
                <a:cs typeface="Times New Roman"/>
              </a:rPr>
              <a:t>ВКР: </a:t>
            </a:r>
            <a:r>
              <a:rPr lang="ru-RU" sz="1400" b="1" dirty="0" smtClean="0">
                <a:latin typeface="Times New Roman"/>
                <a:ea typeface="Calibri"/>
                <a:cs typeface="Times New Roman"/>
              </a:rPr>
              <a:t>к.э.н</a:t>
            </a:r>
            <a:r>
              <a:rPr lang="ru-RU" sz="1400" b="1" dirty="0">
                <a:latin typeface="Times New Roman"/>
                <a:ea typeface="Calibri"/>
                <a:cs typeface="Times New Roman"/>
              </a:rPr>
              <a:t>., доцент, доцент </a:t>
            </a:r>
            <a:r>
              <a:rPr lang="ru-RU" sz="1400" b="1" dirty="0" smtClean="0">
                <a:latin typeface="Times New Roman"/>
                <a:ea typeface="Calibri"/>
                <a:cs typeface="Times New Roman"/>
              </a:rPr>
              <a:t>К.К. Чупров</a:t>
            </a:r>
            <a:endParaRPr dirty="0"/>
          </a:p>
          <a:p>
            <a:pPr indent="450215" algn="just">
              <a:lnSpc>
                <a:spcPct val="150000"/>
              </a:lnSpc>
              <a:spcAft>
                <a:spcPts val="800"/>
              </a:spcAft>
              <a:defRPr/>
            </a:pPr>
            <a:r>
              <a:rPr lang="ru-RU" sz="1400" b="1" dirty="0">
                <a:latin typeface="Times New Roman"/>
                <a:ea typeface="Calibri"/>
                <a:cs typeface="Times New Roman"/>
              </a:rPr>
              <a:t>Консультант по экономической части ВКР: к.э.н., доцент </a:t>
            </a:r>
            <a:r>
              <a:rPr lang="ru-RU" sz="1400" b="1" dirty="0" smtClean="0">
                <a:latin typeface="Times New Roman"/>
                <a:ea typeface="Calibri"/>
                <a:cs typeface="Times New Roman"/>
              </a:rPr>
              <a:t>И.В. </a:t>
            </a:r>
            <a:r>
              <a:rPr lang="ru-RU" sz="1400" b="1" dirty="0" err="1" smtClean="0">
                <a:latin typeface="Times New Roman"/>
                <a:ea typeface="Calibri"/>
                <a:cs typeface="Times New Roman"/>
              </a:rPr>
              <a:t>Чижанькова</a:t>
            </a:r>
            <a:endParaRPr lang="ru-RU" sz="1400" dirty="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14" name="TextBox 13"/>
          <p:cNvSpPr txBox="1"/>
          <p:nvPr/>
        </p:nvSpPr>
        <p:spPr bwMode="auto">
          <a:xfrm>
            <a:off x="1968433" y="4872727"/>
            <a:ext cx="82551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ru-RU" b="1" dirty="0">
                <a:latin typeface="Times New Roman"/>
                <a:cs typeface="Times New Roman"/>
              </a:rPr>
              <a:t>Выполнил студент группы </a:t>
            </a:r>
            <a:r>
              <a:rPr lang="ru-RU" b="1" dirty="0" smtClean="0">
                <a:latin typeface="Times New Roman"/>
                <a:cs typeface="Times New Roman"/>
              </a:rPr>
              <a:t>ИКБО-30-21 Парусов Павел Андреевич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978756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xmlns:w="http://schemas.openxmlformats.org/wordprocessingml/2006/main" xmlns:m="http://schemas.openxmlformats.org/officeDocument/2006/math" xmlns="" Requires="p159">
      <p:transition p14:dur="2000" advClick="1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 bwMode="auto">
          <a:xfrm>
            <a:off x="3802203" y="381000"/>
            <a:ext cx="46482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dirty="0" err="1" smtClean="0"/>
              <a:t>Це</a:t>
            </a:r>
            <a:r>
              <a:rPr spc="-10" dirty="0" err="1" smtClean="0"/>
              <a:t>л</a:t>
            </a:r>
            <a:r>
              <a:rPr dirty="0" err="1" smtClean="0"/>
              <a:t>ь</a:t>
            </a:r>
            <a:r>
              <a:rPr lang="ru-RU" dirty="0" smtClean="0"/>
              <a:t>, актуальность и задачи</a:t>
            </a:r>
            <a:endParaRPr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 bwMode="auto"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80"/>
              </a:lnSpc>
              <a:defRPr/>
            </a:pPr>
            <a:fld id="{81D60167-4931-47E6-BA6A-407CBD079E47}" type="slidenum">
              <a:rPr/>
              <a:t>2</a:t>
            </a:fld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01AB59-4B80-E7D4-1452-4F68CC46501B}"/>
              </a:ext>
            </a:extLst>
          </p:cNvPr>
          <p:cNvSpPr txBox="1"/>
          <p:nvPr/>
        </p:nvSpPr>
        <p:spPr bwMode="auto">
          <a:xfrm>
            <a:off x="721895" y="990600"/>
            <a:ext cx="10584406" cy="7109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ru-RU" sz="2400" b="1" dirty="0" smtClean="0">
                <a:latin typeface="Times New Roman"/>
                <a:cs typeface="Times New Roman"/>
              </a:rPr>
              <a:t>Цель:</a:t>
            </a:r>
            <a:r>
              <a:rPr lang="ru-RU" sz="2400" dirty="0" smtClean="0">
                <a:latin typeface="Times New Roman"/>
                <a:cs typeface="Times New Roman"/>
              </a:rPr>
              <a:t> </a:t>
            </a:r>
            <a:r>
              <a:rPr lang="ru-RU" sz="2400" kern="1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</a:t>
            </a:r>
            <a:r>
              <a:rPr lang="ru-RU" sz="2400" kern="1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азработка </a:t>
            </a:r>
            <a:r>
              <a:rPr lang="ru-RU" sz="2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веб-приложения для управления групповыми мероприятиями с функциями разделения бюджета, отслеживания задач и уведомлений, а также проектирование его архитектуры с применением современных технологий и методологий.</a:t>
            </a:r>
          </a:p>
          <a:p>
            <a:pPr algn="just">
              <a:lnSpc>
                <a:spcPct val="100000"/>
              </a:lnSpc>
              <a:defRPr/>
            </a:pPr>
            <a:endParaRPr lang="ru-RU" sz="2400" b="1" dirty="0">
              <a:latin typeface="Times New Roman"/>
              <a:cs typeface="Times New Roman"/>
            </a:endParaRPr>
          </a:p>
          <a:p>
            <a:pPr algn="just">
              <a:lnSpc>
                <a:spcPct val="100000"/>
              </a:lnSpc>
              <a:defRPr/>
            </a:pPr>
            <a:r>
              <a:rPr lang="ru-RU" sz="2400" b="1" dirty="0">
                <a:latin typeface="Times New Roman"/>
                <a:cs typeface="Times New Roman"/>
              </a:rPr>
              <a:t>Актуальность:</a:t>
            </a:r>
            <a:endParaRPr lang="ru-RU" sz="2400" dirty="0">
              <a:latin typeface="Times New Roman"/>
              <a:cs typeface="Times New Roman"/>
            </a:endParaRPr>
          </a:p>
          <a:p>
            <a:pPr marL="514350" indent="-514350" algn="just">
              <a:lnSpc>
                <a:spcPct val="100000"/>
              </a:lnSpc>
              <a:buAutoNum type="arabicPeriod"/>
              <a:defRPr/>
            </a:pPr>
            <a:r>
              <a:rPr lang="ru-RU" sz="2400" dirty="0" smtClean="0">
                <a:latin typeface="Times New Roman"/>
                <a:cs typeface="Times New Roman"/>
              </a:rPr>
              <a:t>Решение проблемы комплексного управления групповыми мероприятиями.</a:t>
            </a:r>
            <a:endParaRPr lang="ru-RU" sz="2400" dirty="0">
              <a:latin typeface="Times New Roman"/>
              <a:cs typeface="Times New Roman"/>
            </a:endParaRPr>
          </a:p>
          <a:p>
            <a:pPr marL="514350" indent="-514350" algn="just">
              <a:lnSpc>
                <a:spcPct val="100000"/>
              </a:lnSpc>
              <a:buAutoNum type="arabicPeriod"/>
              <a:defRPr/>
            </a:pPr>
            <a:r>
              <a:rPr lang="ru-RU" sz="2400" dirty="0" smtClean="0">
                <a:latin typeface="Times New Roman"/>
                <a:cs typeface="Times New Roman"/>
              </a:rPr>
              <a:t>Детализированное отслеживание бюджета и его разделение</a:t>
            </a:r>
            <a:r>
              <a:rPr lang="en-US" sz="2400" dirty="0" smtClean="0">
                <a:latin typeface="Times New Roman"/>
                <a:cs typeface="Times New Roman"/>
              </a:rPr>
              <a:t>.</a:t>
            </a:r>
            <a:endParaRPr lang="ru-RU" sz="2400" dirty="0">
              <a:latin typeface="Times New Roman"/>
              <a:cs typeface="Times New Roman"/>
            </a:endParaRPr>
          </a:p>
          <a:p>
            <a:pPr algn="just">
              <a:defRPr/>
            </a:pPr>
            <a:endParaRPr lang="ru-RU" sz="2400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buNone/>
            </a:pPr>
            <a:r>
              <a:rPr lang="ru-RU" sz="2400" b="1" dirty="0">
                <a:latin typeface="Times New Roman"/>
                <a:cs typeface="Times New Roman"/>
              </a:rPr>
              <a:t>Задачи:</a:t>
            </a:r>
          </a:p>
          <a:p>
            <a:pPr marL="514350" indent="-514350" algn="just">
              <a:lnSpc>
                <a:spcPct val="100000"/>
              </a:lnSpc>
              <a:buFont typeface="+mj-lt"/>
              <a:buAutoNum type="arabicPeriod"/>
              <a:defRPr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анализ предметной области, рассмотреть конкурентные решения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lnSpc>
                <a:spcPct val="100000"/>
              </a:lnSpc>
              <a:buFont typeface="+mj-lt"/>
              <a:buAutoNum type="arabicPeriod"/>
              <a:defRPr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архитектуру приложения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lnSpc>
                <a:spcPct val="100000"/>
              </a:lnSpc>
              <a:buFont typeface="+mj-lt"/>
              <a:buAutoNum type="arabicPeriod"/>
              <a:defRPr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веб-приложение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lnSpc>
                <a:spcPct val="100000"/>
              </a:lnSpc>
              <a:buFont typeface="+mj-lt"/>
              <a:buAutoNum type="arabicPeriod"/>
              <a:defRPr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тестирование компонентов приложения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defRPr/>
            </a:pPr>
            <a:endParaRPr lang="ru-RU" sz="3600" dirty="0"/>
          </a:p>
          <a:p>
            <a:pPr algn="just">
              <a:lnSpc>
                <a:spcPct val="100000"/>
              </a:lnSpc>
              <a:defRPr/>
            </a:pPr>
            <a:endParaRPr lang="ru-RU" sz="2400" dirty="0">
              <a:latin typeface="Times New Roman"/>
              <a:cs typeface="Times New Roman"/>
            </a:endParaRPr>
          </a:p>
          <a:p>
            <a:pPr marL="514350" indent="-514350" algn="just">
              <a:lnSpc>
                <a:spcPct val="100000"/>
              </a:lnSpc>
              <a:buAutoNum type="arabicPeriod"/>
              <a:defRPr/>
            </a:pPr>
            <a:endParaRPr lang="ru-RU"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xmlns:w="http://schemas.openxmlformats.org/wordprocessingml/2006/main" xmlns:m="http://schemas.openxmlformats.org/officeDocument/2006/math" xmlns="" Requires="p159">
      <p:transition p14:dur="2000" advClick="1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 bwMode="auto">
          <a:xfrm>
            <a:off x="3802203" y="381000"/>
            <a:ext cx="46482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lang="ru-RU" dirty="0" smtClean="0"/>
              <a:t>Объект и предмет исследования</a:t>
            </a:r>
            <a:endParaRPr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 bwMode="auto"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80"/>
              </a:lnSpc>
              <a:defRPr/>
            </a:pPr>
            <a:fld id="{81D60167-4931-47E6-BA6A-407CBD079E47}" type="slidenum">
              <a:rPr/>
              <a:t>3</a:t>
            </a:fld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01AB59-4B80-E7D4-1452-4F68CC46501B}"/>
              </a:ext>
            </a:extLst>
          </p:cNvPr>
          <p:cNvSpPr txBox="1"/>
          <p:nvPr/>
        </p:nvSpPr>
        <p:spPr bwMode="auto">
          <a:xfrm>
            <a:off x="721895" y="990600"/>
            <a:ext cx="10584406" cy="581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/>
            </a:pPr>
            <a:endParaRPr lang="ru-RU" sz="2400" kern="100" dirty="0" smtClean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endParaRPr lang="ru-RU" sz="24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ru-RU" sz="2400" b="1" kern="1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Объектом </a:t>
            </a:r>
            <a:r>
              <a:rPr lang="ru-RU" sz="24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исследования </a:t>
            </a:r>
            <a:r>
              <a:rPr lang="ru-RU" sz="2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данной работы является информационная система управления групповыми мероприятиями, включая координацию участников, управление задачами и финансовыми аспектами.</a:t>
            </a:r>
          </a:p>
          <a:p>
            <a:pPr algn="just">
              <a:lnSpc>
                <a:spcPct val="100000"/>
              </a:lnSpc>
              <a:defRPr/>
            </a:pPr>
            <a:endParaRPr lang="ru-RU" sz="2400" b="1" dirty="0" smtClean="0">
              <a:latin typeface="Times New Roman"/>
              <a:cs typeface="Times New Roman"/>
            </a:endParaRPr>
          </a:p>
          <a:p>
            <a:pPr algn="just">
              <a:defRPr/>
            </a:pPr>
            <a:endParaRPr lang="ru-RU" sz="2400" kern="100" dirty="0" smtClean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endParaRPr lang="ru-RU" sz="24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ru-RU" sz="2400" b="1" kern="1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Предметом </a:t>
            </a:r>
            <a:r>
              <a:rPr lang="ru-RU" sz="24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исследования </a:t>
            </a:r>
            <a:r>
              <a:rPr lang="ru-RU" sz="2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выступают методы, инструменты и алгоритмы разработки информационных систем для управления групповыми мероприятиями, обеспечивающие интеграцию функций планирования, распределения бюджета и отслеживания задач.</a:t>
            </a:r>
          </a:p>
          <a:p>
            <a:pPr algn="just">
              <a:defRPr/>
            </a:pPr>
            <a:endParaRPr lang="ru-RU" sz="3600" dirty="0"/>
          </a:p>
          <a:p>
            <a:pPr algn="just">
              <a:lnSpc>
                <a:spcPct val="100000"/>
              </a:lnSpc>
              <a:defRPr/>
            </a:pPr>
            <a:endParaRPr lang="ru-RU" sz="2400" dirty="0">
              <a:latin typeface="Times New Roman"/>
              <a:cs typeface="Times New Roman"/>
            </a:endParaRPr>
          </a:p>
          <a:p>
            <a:pPr marL="514350" indent="-514350" algn="just">
              <a:lnSpc>
                <a:spcPct val="100000"/>
              </a:lnSpc>
              <a:buAutoNum type="arabicPeriod"/>
              <a:defRPr/>
            </a:pPr>
            <a:endParaRPr lang="ru-RU" sz="24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686003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xmlns:w="http://schemas.openxmlformats.org/wordprocessingml/2006/main" xmlns:m="http://schemas.openxmlformats.org/officeDocument/2006/math" xmlns="" Requires="p159">
      <p:transition p14:dur="2000" advClick="1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 bwMode="auto">
          <a:xfrm>
            <a:off x="4189473" y="157052"/>
            <a:ext cx="3908298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lang="ru-RU" spc="-20"/>
              <a:t>Анализ предметной области</a:t>
            </a:r>
            <a:endParaRPr spc="-5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 bwMode="auto"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80"/>
              </a:lnSpc>
              <a:defRPr/>
            </a:pPr>
            <a:fld id="{81D60167-4931-47E6-BA6A-407CBD079E47}" type="slidenum">
              <a:rPr/>
              <a:t>4</a:t>
            </a:fld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 bwMode="auto">
          <a:xfrm>
            <a:off x="910477" y="654843"/>
            <a:ext cx="10174402" cy="10694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14020" marR="10160">
              <a:lnSpc>
                <a:spcPct val="114999"/>
              </a:lnSpc>
              <a:spcBef>
                <a:spcPts val="105"/>
              </a:spcBef>
              <a:defRPr/>
            </a:pPr>
            <a:r>
              <a:rPr lang="ru-RU" dirty="0"/>
              <a:t>Проанализировав несколько </a:t>
            </a:r>
            <a:r>
              <a:rPr lang="ru-RU" dirty="0" err="1"/>
              <a:t>интернет-ресурсов</a:t>
            </a:r>
            <a:r>
              <a:rPr lang="ru-RU" dirty="0"/>
              <a:t> имеющих похожую тематику, был выявлен следующий функционал:</a:t>
            </a:r>
            <a:endParaRPr dirty="0"/>
          </a:p>
          <a:p>
            <a:pPr marL="414020" marR="10160">
              <a:lnSpc>
                <a:spcPct val="150000"/>
              </a:lnSpc>
              <a:spcBef>
                <a:spcPts val="105"/>
              </a:spcBef>
              <a:defRPr/>
            </a:pPr>
            <a:endParaRPr lang="ru-RU" dirty="0"/>
          </a:p>
        </p:txBody>
      </p:sp>
      <p:graphicFrame>
        <p:nvGraphicFramePr>
          <p:cNvPr id="8" name="Объект 2">
            <a:extLst>
              <a:ext uri="{FF2B5EF4-FFF2-40B4-BE49-F238E27FC236}">
                <a16:creationId xmlns:a16="http://schemas.microsoft.com/office/drawing/2014/main" id="{422C8F96-436E-3056-41AD-4262E6F1B8D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94277222"/>
              </p:ext>
            </p:extLst>
          </p:nvPr>
        </p:nvGraphicFramePr>
        <p:xfrm>
          <a:off x="1295400" y="1839923"/>
          <a:ext cx="8715226" cy="4288218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3137898">
                  <a:extLst>
                    <a:ext uri="{9D8B030D-6E8A-4147-A177-3AD203B41FA5}">
                      <a16:colId xmlns:a16="http://schemas.microsoft.com/office/drawing/2014/main" val="2353342050"/>
                    </a:ext>
                  </a:extLst>
                </a:gridCol>
                <a:gridCol w="2022434">
                  <a:extLst>
                    <a:ext uri="{9D8B030D-6E8A-4147-A177-3AD203B41FA5}">
                      <a16:colId xmlns:a16="http://schemas.microsoft.com/office/drawing/2014/main" val="889618764"/>
                    </a:ext>
                  </a:extLst>
                </a:gridCol>
                <a:gridCol w="1761420">
                  <a:extLst>
                    <a:ext uri="{9D8B030D-6E8A-4147-A177-3AD203B41FA5}">
                      <a16:colId xmlns:a16="http://schemas.microsoft.com/office/drawing/2014/main" val="2687968785"/>
                    </a:ext>
                  </a:extLst>
                </a:gridCol>
                <a:gridCol w="1793474">
                  <a:extLst>
                    <a:ext uri="{9D8B030D-6E8A-4147-A177-3AD203B41FA5}">
                      <a16:colId xmlns:a16="http://schemas.microsoft.com/office/drawing/2014/main" val="2765687997"/>
                    </a:ext>
                  </a:extLst>
                </a:gridCol>
              </a:tblGrid>
              <a:tr h="589738">
                <a:tc>
                  <a:txBody>
                    <a:bodyPr/>
                    <a:lstStyle/>
                    <a:p>
                      <a:pPr indent="0">
                        <a:defRPr/>
                      </a:pPr>
                      <a:r>
                        <a:rPr b="1" dirty="0" err="1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Название</a:t>
                      </a:r>
                      <a:r>
                        <a:rPr b="1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ru-RU" b="1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веб-сервиса</a:t>
                      </a:r>
                      <a:endParaRPr b="1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defRPr/>
                      </a:pPr>
                      <a:r>
                        <a:rPr lang="en-US" sz="1800" b="1" i="0" u="none" strike="noStrike" cap="none" spc="0" dirty="0" smtClean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Trello </a:t>
                      </a:r>
                      <a:endParaRPr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defRPr/>
                      </a:pPr>
                      <a:r>
                        <a:rPr lang="en-US" sz="1800" b="1" i="0" u="none" strike="noStrike" cap="none" spc="0" dirty="0" err="1" smtClean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Splitwise</a:t>
                      </a:r>
                      <a:r>
                        <a:rPr lang="en-US" sz="1800" b="1" i="0" u="none" strike="noStrike" cap="none" spc="0" dirty="0" smtClean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endParaRPr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defRPr/>
                      </a:pPr>
                      <a:r>
                        <a:rPr lang="en-US" sz="1800" b="1" i="0" u="none" strike="noStrike" cap="none" spc="0" dirty="0" smtClean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Asana </a:t>
                      </a:r>
                      <a:endParaRPr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2373450"/>
                  </a:ext>
                </a:extLst>
              </a:tr>
              <a:tr h="543188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ru-RU" sz="1800" b="0" i="0" u="none" strike="noStrike" cap="none" spc="0" dirty="0" smtClean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Управление задачами</a:t>
                      </a:r>
                      <a:endParaRPr sz="1800" b="0" i="0" u="none" strike="noStrike" cap="none" spc="0" dirty="0">
                        <a:solidFill>
                          <a:schemeClr val="dk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defRPr/>
                      </a:pPr>
                      <a:r>
                        <a:rPr lang="ru-RU" sz="1800" b="0" i="0" u="none" strike="noStrike" cap="none" spc="0" dirty="0" smtClean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+</a:t>
                      </a:r>
                      <a:endParaRPr sz="1800" b="0" i="0" u="none" strike="noStrike" cap="none" spc="0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defRPr/>
                      </a:pPr>
                      <a:r>
                        <a:rPr lang="ru-RU" sz="1800" b="0" i="0" u="none" strike="noStrike" cap="none" spc="0" dirty="0" smtClean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–</a:t>
                      </a:r>
                      <a:endParaRPr sz="1800" b="0" i="0" u="none" strike="noStrike" cap="none" spc="0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defRPr/>
                      </a:pPr>
                      <a:r>
                        <a:rPr lang="ru-RU" sz="1800" b="0" i="0" u="none" strike="noStrike" cap="none" spc="0" dirty="0" smtClean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+</a:t>
                      </a:r>
                      <a:endParaRPr sz="1800" b="0" i="0" u="none" strike="noStrike" cap="none" spc="0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9315390"/>
                  </a:ext>
                </a:extLst>
              </a:tr>
              <a:tr h="543188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ru-RU" sz="1800" b="0" i="0" u="none" strike="noStrike" cap="none" spc="0" dirty="0" smtClean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Разделение бюджета</a:t>
                      </a:r>
                      <a:endParaRPr sz="1800" b="0" i="0" u="none" strike="noStrike" cap="none" spc="0" dirty="0">
                        <a:solidFill>
                          <a:schemeClr val="dk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defRPr/>
                      </a:pPr>
                      <a:r>
                        <a:rPr lang="ru-RU" sz="1800" b="0" i="0" u="none" strike="noStrike" cap="none" spc="0" dirty="0" smtClean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– </a:t>
                      </a:r>
                      <a:endParaRPr sz="1800" b="0" i="0" u="none" strike="noStrike" cap="none" spc="0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defRPr/>
                      </a:pPr>
                      <a:r>
                        <a:rPr lang="ru-RU" sz="1800" b="0" i="0" u="none" strike="noStrike" cap="none" spc="0" dirty="0" smtClean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+</a:t>
                      </a:r>
                      <a:endParaRPr sz="1800" b="0" i="0" u="none" strike="noStrike" cap="none" spc="0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defRPr/>
                      </a:pPr>
                      <a:r>
                        <a:rPr lang="ru-RU" sz="1800" b="0" i="0" u="none" strike="noStrike" cap="none" spc="0" dirty="0" smtClean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–</a:t>
                      </a:r>
                      <a:endParaRPr sz="1800" b="0" i="0" u="none" strike="noStrike" cap="none" spc="0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7270474"/>
                  </a:ext>
                </a:extLst>
              </a:tr>
              <a:tr h="898660">
                <a:tc>
                  <a:txBody>
                    <a:bodyPr/>
                    <a:lstStyle/>
                    <a:p>
                      <a:pPr indent="0">
                        <a:defRPr/>
                      </a:pPr>
                      <a:r>
                        <a:rPr lang="ru-RU" sz="1800" b="0" i="0" u="none" strike="noStrike" cap="none" spc="0" dirty="0" smtClean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Координация участников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defRPr/>
                      </a:pPr>
                      <a:r>
                        <a:rPr lang="ru-RU" sz="1800" b="0" i="0" u="none" strike="noStrike" cap="none" spc="0" dirty="0" smtClean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+</a:t>
                      </a:r>
                      <a:endParaRPr sz="1800" b="0" i="0" u="none" strike="noStrike" cap="none" spc="0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defRPr/>
                      </a:pPr>
                      <a:r>
                        <a:rPr lang="ru-RU" sz="1800" b="0" i="0" u="none" strike="noStrike" cap="none" spc="0" dirty="0" smtClean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–</a:t>
                      </a:r>
                      <a:endParaRPr sz="1800" b="0" i="0" u="none" strike="noStrike" cap="none" spc="0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defRPr/>
                      </a:pPr>
                      <a:r>
                        <a:rPr lang="ru-RU" sz="1800" b="0" i="0" u="none" strike="noStrike" cap="none" spc="0" dirty="0" smtClean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+</a:t>
                      </a:r>
                      <a:endParaRPr sz="1800" b="0" i="0" u="none" strike="noStrike" cap="none" spc="0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4311863"/>
                  </a:ext>
                </a:extLst>
              </a:tr>
              <a:tr h="814784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ru-RU" sz="1800" b="0" i="0" u="none" strike="noStrike" cap="none" spc="0" dirty="0" smtClean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Поддержка командной работы</a:t>
                      </a:r>
                      <a:endParaRPr sz="1800" b="0" i="0" u="none" strike="noStrike" cap="none" spc="0" dirty="0">
                        <a:solidFill>
                          <a:schemeClr val="dk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defRPr/>
                      </a:pPr>
                      <a:r>
                        <a:rPr lang="ru-RU" sz="1800" b="0" i="0" u="none" strike="noStrike" cap="none" spc="0" dirty="0" smtClean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+</a:t>
                      </a:r>
                      <a:endParaRPr sz="1800" b="0" i="0" u="none" strike="noStrike" cap="none" spc="0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defRPr/>
                      </a:pPr>
                      <a:r>
                        <a:rPr lang="ru-RU" sz="1800" b="0" i="0" u="none" strike="noStrike" cap="none" spc="0" dirty="0" smtClean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+</a:t>
                      </a:r>
                      <a:endParaRPr sz="1800" b="0" i="0" u="none" strike="noStrike" cap="none" spc="0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defRPr/>
                      </a:pPr>
                      <a:r>
                        <a:rPr lang="ru-RU" sz="1800" b="0" i="0" u="none" strike="noStrike" cap="none" spc="0" dirty="0" smtClean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+</a:t>
                      </a:r>
                      <a:endParaRPr sz="1800" b="0" i="0" u="none" strike="noStrike" cap="none" spc="0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1636743"/>
                  </a:ext>
                </a:extLst>
              </a:tr>
              <a:tr h="89866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ru-RU" sz="1800" b="0" i="0" u="none" strike="noStrike" cap="none" spc="0" dirty="0" smtClean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Интеграции с другими сервисами</a:t>
                      </a:r>
                      <a:endParaRPr sz="1800" b="0" i="0" u="none" strike="noStrike" cap="none" spc="0" dirty="0">
                        <a:solidFill>
                          <a:schemeClr val="dk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defRPr/>
                      </a:pPr>
                      <a:r>
                        <a:rPr lang="ru-RU" sz="1800" b="0" i="0" u="none" strike="noStrike" cap="none" spc="0" dirty="0" smtClean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+</a:t>
                      </a:r>
                      <a:endParaRPr sz="1800" b="0" i="0" u="none" strike="noStrike" cap="none" spc="0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defRPr/>
                      </a:pPr>
                      <a:r>
                        <a:rPr lang="ru-RU" sz="1800" b="0" i="0" u="none" strike="noStrike" cap="none" spc="0" dirty="0" smtClean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+</a:t>
                      </a:r>
                      <a:endParaRPr sz="1800" b="0" i="0" u="none" strike="noStrike" cap="none" spc="0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defRPr/>
                      </a:pPr>
                      <a:r>
                        <a:rPr lang="ru-RU" sz="1800" b="0" i="0" u="none" strike="noStrike" cap="none" spc="0" dirty="0" smtClean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+</a:t>
                      </a:r>
                      <a:endParaRPr sz="1800" b="0" i="0" u="none" strike="noStrike" cap="none" spc="0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389702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DC080293-5682-8699-99B1-3678D909AA34}"/>
              </a:ext>
            </a:extLst>
          </p:cNvPr>
          <p:cNvSpPr txBox="1"/>
          <p:nvPr/>
        </p:nvSpPr>
        <p:spPr bwMode="auto">
          <a:xfrm>
            <a:off x="1219200" y="1470591"/>
            <a:ext cx="61110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</a:rPr>
              <a:t>Таблица 1 – Сравнительный анализ </a:t>
            </a:r>
            <a:endParaRPr lang="ru-RU" dirty="0"/>
          </a:p>
        </p:txBody>
      </p:sp>
      <p:sp>
        <p:nvSpPr>
          <p:cNvPr id="10" name="Номер слайда 6">
            <a:extLst>
              <a:ext uri="{FF2B5EF4-FFF2-40B4-BE49-F238E27FC236}">
                <a16:creationId xmlns:a16="http://schemas.microsoft.com/office/drawing/2014/main" id="{024C75F2-FF6E-2117-5666-BDF212C67DF0}"/>
              </a:ext>
            </a:extLst>
          </p:cNvPr>
          <p:cNvSpPr txBox="1">
            <a:spLocks/>
          </p:cNvSpPr>
          <p:nvPr/>
        </p:nvSpPr>
        <p:spPr bwMode="auto">
          <a:xfrm>
            <a:off x="8489888" y="7511516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9E0108E5-F9BA-45D3-85ED-51F3CB721625}" type="slidenum">
              <a:rPr lang="ru-RU" smtClean="0"/>
              <a:pPr>
                <a:defRPr/>
              </a:pPr>
              <a:t>4</a:t>
            </a:fld>
            <a:endParaRPr lang="ru-RU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xmlns:w="http://schemas.openxmlformats.org/wordprocessingml/2006/main" xmlns:m="http://schemas.openxmlformats.org/officeDocument/2006/math" xmlns="" Requires="p159">
      <p:transition p14:dur="2000" advClick="1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 bwMode="auto">
          <a:xfrm>
            <a:off x="4189473" y="157052"/>
            <a:ext cx="3908298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lang="ru-RU" spc="-20" dirty="0"/>
              <a:t>Анализ предметной области</a:t>
            </a:r>
            <a:endParaRPr spc="-5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 bwMode="auto"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80"/>
              </a:lnSpc>
              <a:defRPr/>
            </a:pPr>
            <a:fld id="{81D60167-4931-47E6-BA6A-407CBD079E47}" type="slidenum">
              <a:rPr/>
              <a:t>5</a:t>
            </a:fld>
            <a:endParaRPr/>
          </a:p>
        </p:txBody>
      </p:sp>
      <p:sp>
        <p:nvSpPr>
          <p:cNvPr id="10" name="Номер слайда 6">
            <a:extLst>
              <a:ext uri="{FF2B5EF4-FFF2-40B4-BE49-F238E27FC236}">
                <a16:creationId xmlns:a16="http://schemas.microsoft.com/office/drawing/2014/main" id="{024C75F2-FF6E-2117-5666-BDF212C67DF0}"/>
              </a:ext>
            </a:extLst>
          </p:cNvPr>
          <p:cNvSpPr txBox="1">
            <a:spLocks/>
          </p:cNvSpPr>
          <p:nvPr/>
        </p:nvSpPr>
        <p:spPr bwMode="auto">
          <a:xfrm>
            <a:off x="8489888" y="7511516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9E0108E5-F9BA-45D3-85ED-51F3CB721625}" type="slidenum">
              <a:rPr lang="ru-RU" smtClean="0"/>
              <a:pPr>
                <a:defRPr/>
              </a:pPr>
              <a:t>5</a:t>
            </a:fld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914400" y="1371600"/>
            <a:ext cx="9062721" cy="37394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Улучшить и добавить: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ru-RU" sz="24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Добавить</a:t>
            </a:r>
            <a:r>
              <a:rPr lang="ru-RU" sz="2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kern="1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возможность добавления расходов</a:t>
            </a:r>
            <a:r>
              <a:rPr lang="en-US" sz="2400" kern="1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24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ru-RU" sz="24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Добавить</a:t>
            </a:r>
            <a:r>
              <a:rPr lang="ru-RU" sz="2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kern="1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управление задачами</a:t>
            </a:r>
            <a:r>
              <a:rPr lang="en-US" sz="2400" kern="1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2400" kern="100" dirty="0" smtClean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ru-RU" sz="24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Добавить</a:t>
            </a:r>
            <a:r>
              <a:rPr lang="ru-RU" sz="2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kern="1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координацию участников посредством коммуникации</a:t>
            </a:r>
            <a:r>
              <a:rPr lang="en-US" sz="2400" kern="1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24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ru-RU" sz="2400" b="1" dirty="0">
                <a:latin typeface="Times New Roman"/>
                <a:cs typeface="Times New Roman"/>
              </a:rPr>
              <a:t>Улучшить</a:t>
            </a:r>
            <a:r>
              <a:rPr lang="ru-RU" sz="2400" dirty="0">
                <a:latin typeface="Times New Roman"/>
                <a:cs typeface="Times New Roman"/>
              </a:rPr>
              <a:t> </a:t>
            </a:r>
            <a:r>
              <a:rPr lang="ru-RU" sz="2400" dirty="0" smtClean="0">
                <a:latin typeface="Times New Roman"/>
                <a:cs typeface="Times New Roman"/>
              </a:rPr>
              <a:t>подход для разделения бюджета</a:t>
            </a:r>
            <a:r>
              <a:rPr lang="en-US" sz="2400" dirty="0" smtClean="0">
                <a:latin typeface="Times New Roman"/>
                <a:cs typeface="Times New Roman"/>
              </a:rPr>
              <a:t>.</a:t>
            </a:r>
            <a:endParaRPr lang="ru-RU" sz="2400" dirty="0" smtClean="0">
              <a:latin typeface="Times New Roman"/>
              <a:cs typeface="Times New Roman"/>
            </a:endParaRPr>
          </a:p>
          <a:p>
            <a:pPr algn="just">
              <a:lnSpc>
                <a:spcPct val="150000"/>
              </a:lnSpc>
            </a:pPr>
            <a:endParaRPr lang="ru-RU" sz="2400" b="1" dirty="0" smtClean="0">
              <a:latin typeface="Times New Roman"/>
              <a:cs typeface="Times New Roman"/>
            </a:endParaRP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endParaRPr lang="ru-RU" sz="14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89118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xmlns:w="http://schemas.openxmlformats.org/wordprocessingml/2006/main" xmlns:m="http://schemas.openxmlformats.org/officeDocument/2006/math" xmlns="" Requires="p159">
      <p:transition p14:dur="2000" advClick="1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802561" name="object 2"/>
          <p:cNvSpPr txBox="1">
            <a:spLocks noGrp="1"/>
          </p:cNvSpPr>
          <p:nvPr>
            <p:ph type="title"/>
          </p:nvPr>
        </p:nvSpPr>
        <p:spPr bwMode="auto">
          <a:xfrm>
            <a:off x="2035352" y="275833"/>
            <a:ext cx="8137851" cy="378818"/>
          </a:xfrm>
          <a:prstGeom prst="rect">
            <a:avLst/>
          </a:prstGeom>
        </p:spPr>
        <p:txBody>
          <a:bodyPr vert="horz" wrap="square" lIns="0" tIns="12699" rIns="0" bIns="0" rtlCol="0">
            <a:spAutoFit/>
          </a:bodyPr>
          <a:lstStyle/>
          <a:p>
            <a:pPr marL="217170" algn="ctr">
              <a:lnSpc>
                <a:spcPct val="100000"/>
              </a:lnSpc>
              <a:spcBef>
                <a:spcPts val="99"/>
              </a:spcBef>
              <a:defRPr/>
            </a:pPr>
            <a:r>
              <a:rPr lang="ru-RU" sz="2400" b="1" i="0" u="none" strike="noStrike" cap="none" spc="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Разработка </a:t>
            </a:r>
            <a:r>
              <a:rPr lang="ru-RU" sz="2400" b="1" i="0" u="none" strike="noStrike" cap="none" spc="0" dirty="0" smtClean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требований</a:t>
            </a:r>
            <a:endParaRPr dirty="0"/>
          </a:p>
        </p:txBody>
      </p:sp>
      <p:sp>
        <p:nvSpPr>
          <p:cNvPr id="476829821" name="object 7"/>
          <p:cNvSpPr txBox="1">
            <a:spLocks noGrp="1"/>
          </p:cNvSpPr>
          <p:nvPr>
            <p:ph type="sldNum" sz="quarter" idx="7"/>
          </p:nvPr>
        </p:nvSpPr>
        <p:spPr bwMode="auto"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099">
              <a:lnSpc>
                <a:spcPts val="2379"/>
              </a:lnSpc>
              <a:defRPr/>
            </a:pPr>
            <a:fld id="{7347AFFB-972C-A8BC-61A0-C0F9C4A37260}" type="slidenum">
              <a:rPr/>
              <a:t>6</a:t>
            </a:fld>
            <a:endParaRPr/>
          </a:p>
        </p:txBody>
      </p:sp>
      <p:sp>
        <p:nvSpPr>
          <p:cNvPr id="1540963082" name="TextBox 11"/>
          <p:cNvSpPr txBox="1"/>
          <p:nvPr/>
        </p:nvSpPr>
        <p:spPr bwMode="auto">
          <a:xfrm>
            <a:off x="914400" y="1143000"/>
            <a:ext cx="8665423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2000" b="0" i="0" u="none" strike="noStrike" cap="none" spc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Функциональные требования:</a:t>
            </a:r>
            <a:endParaRPr lang="ru-RU" sz="2000" b="0" i="0" u="none" strike="noStrike" cap="none" spc="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705958" lvl="1" indent="-305908">
              <a:buFont typeface="Arial"/>
              <a:buChar char="•"/>
              <a:defRPr/>
            </a:pPr>
            <a:r>
              <a:rPr lang="ru-RU" sz="2000" b="1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управление мероприятиями</a:t>
            </a:r>
            <a:endParaRPr lang="ru-RU" sz="2000" b="1" i="0" u="none" strike="noStrike" cap="none" spc="0" dirty="0" smtClean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705958" lvl="1" indent="-305908">
              <a:buFont typeface="Arial"/>
              <a:buChar char="•"/>
              <a:defRPr/>
            </a:pPr>
            <a:r>
              <a:rPr lang="ru-RU" sz="2000" b="1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управление </a:t>
            </a:r>
            <a:r>
              <a:rPr lang="ru-RU" sz="20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задачами</a:t>
            </a:r>
            <a:endParaRPr lang="ru-RU" sz="2000" b="1" i="0" u="none" strike="noStrike" cap="none" spc="0" dirty="0" smtClean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705958" lvl="1" indent="-305908">
              <a:buFont typeface="Arial"/>
              <a:buChar char="•"/>
              <a:defRPr/>
            </a:pPr>
            <a:r>
              <a:rPr lang="ru-RU" sz="2000" b="1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разделение </a:t>
            </a:r>
            <a:r>
              <a:rPr lang="ru-RU" sz="20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бюджета </a:t>
            </a:r>
            <a:endParaRPr lang="ru-RU" sz="2000" b="1" i="0" u="none" strike="noStrike" cap="none" spc="0" dirty="0" smtClean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705958" lvl="1" indent="-305908">
              <a:buFont typeface="Arial"/>
              <a:buChar char="•"/>
              <a:defRPr/>
            </a:pPr>
            <a:r>
              <a:rPr lang="ru-RU" sz="20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комментарии </a:t>
            </a:r>
            <a:r>
              <a:rPr lang="ru-RU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к задачам</a:t>
            </a:r>
            <a:endParaRPr lang="ru-RU" sz="2000" b="0" i="0" u="none" strike="noStrike" cap="none" spc="0" dirty="0" smtClean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705958" lvl="1" indent="-305908">
              <a:buFont typeface="Arial"/>
              <a:buChar char="•"/>
              <a:defRPr/>
            </a:pPr>
            <a:r>
              <a:rPr lang="ru-RU" sz="20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напоминания </a:t>
            </a:r>
            <a:r>
              <a:rPr lang="ru-RU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и уведомления</a:t>
            </a:r>
            <a:endParaRPr lang="ru-RU" sz="2000" b="0" i="0" u="none" strike="noStrike" cap="none" spc="0" dirty="0" smtClean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ru-RU" sz="2000" b="0" i="0" u="none" strike="noStrike" cap="none" spc="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Нефункциональные требования:</a:t>
            </a:r>
            <a:endParaRPr lang="ru-RU" sz="2000" b="0" i="0" u="none" strike="noStrike" cap="none" spc="0" dirty="0" smtClean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705958" lvl="1" indent="-305908">
              <a:buFont typeface="Arial"/>
              <a:buChar char="•"/>
              <a:defRPr/>
            </a:pPr>
            <a:r>
              <a:rPr lang="ru-RU" sz="2000" b="0" i="0" u="none" strike="noStrike" cap="none" spc="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Время </a:t>
            </a:r>
            <a:r>
              <a:rPr lang="ru-RU" sz="2000" b="0" i="0" u="none" strike="noStrike" cap="none" spc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отклика API: ≤ 1 сек (до 100 пользователей)</a:t>
            </a:r>
            <a:endParaRPr lang="ru-RU" sz="2000" b="0" i="0" u="none" strike="noStrike" cap="none" spc="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705958" lvl="1" indent="-305908">
              <a:buFont typeface="Arial"/>
              <a:buChar char="•"/>
              <a:defRPr/>
            </a:pPr>
            <a:r>
              <a:rPr lang="ru-RU" sz="2000" b="0" i="0" u="none" strike="noStrike" cap="none" spc="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Безопасность</a:t>
            </a:r>
            <a:r>
              <a:rPr lang="ru-RU" sz="2000" b="0" i="0" u="none" strike="noStrike" cap="none" spc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 JWT, шифрование</a:t>
            </a:r>
            <a:endParaRPr lang="ru-RU" sz="2000" b="0" i="0" u="none" strike="noStrike" cap="none" spc="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705958" lvl="1" indent="-305908">
              <a:buFont typeface="Arial"/>
              <a:buChar char="•"/>
              <a:defRPr/>
            </a:pPr>
            <a:r>
              <a:rPr lang="ru-RU" sz="2000" b="0" i="0" u="none" strike="noStrike" cap="none" spc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Развертывание: </a:t>
            </a:r>
            <a:r>
              <a:rPr lang="ru-RU" sz="2000" b="0" i="0" u="none" strike="noStrike" cap="none" spc="0" dirty="0" err="1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Docker</a:t>
            </a:r>
            <a:endParaRPr lang="ru-RU" sz="2000" b="0" i="0" u="none" strike="noStrike" cap="none" spc="0" dirty="0" smtClean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705958" lvl="1" indent="-305908">
              <a:buFont typeface="Arial"/>
              <a:buChar char="•"/>
              <a:defRPr/>
            </a:pPr>
            <a:r>
              <a:rPr lang="ru-RU" sz="2000" dirty="0" smtClean="0">
                <a:solidFill>
                  <a:srgbClr val="000000"/>
                </a:solidFill>
                <a:latin typeface="Times New Roman"/>
                <a:cs typeface="Times New Roman"/>
              </a:rPr>
              <a:t>Доступность</a:t>
            </a:r>
            <a:r>
              <a:rPr lang="ru-RU" sz="2000" dirty="0">
                <a:solidFill>
                  <a:srgbClr val="000000"/>
                </a:solidFill>
                <a:latin typeface="Times New Roman"/>
                <a:cs typeface="Times New Roman"/>
              </a:rPr>
              <a:t>: </a:t>
            </a:r>
            <a:r>
              <a:rPr lang="ru-RU" sz="2000" dirty="0" smtClean="0">
                <a:solidFill>
                  <a:srgbClr val="000000"/>
                </a:solidFill>
                <a:latin typeface="Times New Roman"/>
                <a:cs typeface="Times New Roman"/>
              </a:rPr>
              <a:t>не </a:t>
            </a:r>
            <a:r>
              <a:rPr lang="ru-RU" sz="2000" dirty="0">
                <a:solidFill>
                  <a:srgbClr val="000000"/>
                </a:solidFill>
                <a:latin typeface="Times New Roman"/>
                <a:cs typeface="Times New Roman"/>
              </a:rPr>
              <a:t>менее 99,5% </a:t>
            </a:r>
            <a:r>
              <a:rPr lang="ru-RU" sz="2000" dirty="0" smtClean="0">
                <a:solidFill>
                  <a:srgbClr val="000000"/>
                </a:solidFill>
                <a:latin typeface="Times New Roman"/>
                <a:cs typeface="Times New Roman"/>
              </a:rPr>
              <a:t>времени</a:t>
            </a:r>
            <a:endParaRPr lang="ru-RU" sz="2000" b="0" i="0" u="none" strike="noStrike" cap="none" spc="0" dirty="0" smtClean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ru-RU" sz="2000" b="0" i="0" u="none" strike="noStrike" cap="none" spc="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Аппаратные требования (минимальные):</a:t>
            </a:r>
            <a:endParaRPr lang="ru-RU" sz="2000" b="0" i="0" u="none" strike="noStrike" cap="none" spc="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705958" lvl="1" indent="-305908">
              <a:buFont typeface="Arial"/>
              <a:buChar char="•"/>
              <a:defRPr/>
            </a:pPr>
            <a:r>
              <a:rPr lang="ru-RU" sz="2000" b="0" i="0" u="none" strike="noStrike" cap="none" spc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Сервер: </a:t>
            </a:r>
            <a:r>
              <a:rPr lang="ru-RU" sz="2000" b="0" i="0" u="none" strike="noStrike" cap="none" spc="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 </a:t>
            </a:r>
            <a:r>
              <a:rPr lang="ru-RU" sz="2000" b="0" i="0" u="none" strike="noStrike" cap="none" spc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ядра, </a:t>
            </a:r>
            <a:r>
              <a:rPr lang="ru-RU" sz="2000" b="0" i="0" u="none" strike="noStrike" cap="none" spc="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8 </a:t>
            </a:r>
            <a:r>
              <a:rPr lang="ru-RU" sz="2000" b="0" i="0" u="none" strike="noStrike" cap="none" spc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ГБ ОЗУ, </a:t>
            </a:r>
            <a:r>
              <a:rPr lang="ru-RU" sz="20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256</a:t>
            </a:r>
            <a:r>
              <a:rPr lang="ru-RU" sz="2000" b="0" i="0" u="none" strike="noStrike" cap="none" spc="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ru-RU" sz="2000" b="0" i="0" u="none" strike="noStrike" cap="none" spc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ГБ </a:t>
            </a:r>
            <a:r>
              <a:rPr lang="ru-RU" sz="2000" b="0" i="0" u="none" strike="noStrike" cap="none" spc="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SSD</a:t>
            </a:r>
            <a:endParaRPr lang="ru-RU" sz="2000" b="0" i="0" u="none" strike="noStrike" cap="none" spc="0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xmlns:w="http://schemas.openxmlformats.org/wordprocessingml/2006/main" xmlns:m="http://schemas.openxmlformats.org/officeDocument/2006/math" xmlns="" Requires="p159">
      <p:transition p14:dur="2000" advClick="1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 bwMode="auto">
          <a:xfrm>
            <a:off x="3866576" y="245454"/>
            <a:ext cx="4443733" cy="378819"/>
          </a:xfrm>
          <a:prstGeom prst="rect">
            <a:avLst/>
          </a:prstGeom>
        </p:spPr>
        <p:txBody>
          <a:bodyPr vert="horz" wrap="square" lIns="0" tIns="1269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lang="ru-RU" spc="-20" dirty="0" smtClean="0"/>
              <a:t>Выбор средств разработки</a:t>
            </a:r>
            <a:endParaRPr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 bwMode="auto"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80"/>
              </a:lnSpc>
              <a:defRPr/>
            </a:pPr>
            <a:fld id="{81D60167-4931-47E6-BA6A-407CBD079E47}" type="slidenum">
              <a:rPr/>
              <a:t>7</a:t>
            </a:fld>
            <a:endParaRPr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016B07E8-1424-813C-59F9-7CFD2D5395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2935295"/>
              </p:ext>
            </p:extLst>
          </p:nvPr>
        </p:nvGraphicFramePr>
        <p:xfrm>
          <a:off x="796563" y="1347141"/>
          <a:ext cx="10799625" cy="2108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99875">
                  <a:extLst>
                    <a:ext uri="{9D8B030D-6E8A-4147-A177-3AD203B41FA5}">
                      <a16:colId xmlns:a16="http://schemas.microsoft.com/office/drawing/2014/main" val="159836343"/>
                    </a:ext>
                  </a:extLst>
                </a:gridCol>
                <a:gridCol w="3599875">
                  <a:extLst>
                    <a:ext uri="{9D8B030D-6E8A-4147-A177-3AD203B41FA5}">
                      <a16:colId xmlns:a16="http://schemas.microsoft.com/office/drawing/2014/main" val="2002670084"/>
                    </a:ext>
                  </a:extLst>
                </a:gridCol>
                <a:gridCol w="3599875">
                  <a:extLst>
                    <a:ext uri="{9D8B030D-6E8A-4147-A177-3AD203B41FA5}">
                      <a16:colId xmlns:a16="http://schemas.microsoft.com/office/drawing/2014/main" val="29299947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Клиентская часть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Серверная часть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Хранилища</a:t>
                      </a:r>
                      <a:endParaRPr lang="ru-RU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9594052"/>
                  </a:ext>
                </a:extLst>
              </a:tr>
              <a:tr h="330544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React</a:t>
                      </a:r>
                    </a:p>
                    <a:p>
                      <a:r>
                        <a:rPr lang="en-US" sz="18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Axios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18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Redux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JavaScript(Typescript)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CSS</a:t>
                      </a:r>
                    </a:p>
                    <a:p>
                      <a:r>
                        <a:rPr lang="en-US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VS</a:t>
                      </a:r>
                      <a:r>
                        <a:rPr lang="en-US" sz="18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Code IDE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</a:t>
                      </a:r>
                      <a:r>
                        <a:rPr lang="en-US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r>
                        <a:rPr lang="en-US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Gin</a:t>
                      </a:r>
                    </a:p>
                    <a:p>
                      <a:r>
                        <a:rPr lang="en-US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RabbitMQ</a:t>
                      </a:r>
                      <a:r>
                        <a:rPr lang="en-US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/>
                      </a:r>
                      <a:br>
                        <a:rPr lang="en-US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ru-RU" sz="1800" b="0" i="0" u="none" strike="noStrike" cap="none" spc="0" dirty="0" err="1" smtClean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GoLand</a:t>
                      </a:r>
                      <a:r>
                        <a:rPr lang="en-US" sz="1800" b="0" i="0" u="none" strike="noStrike" cap="none" spc="0" dirty="0" smtClean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IDE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PostgreSQL</a:t>
                      </a:r>
                    </a:p>
                    <a:p>
                      <a:r>
                        <a:rPr lang="en-US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Redis</a:t>
                      </a:r>
                      <a:endParaRPr lang="en-US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PgAdmin</a:t>
                      </a:r>
                      <a:r>
                        <a:rPr lang="en-US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141929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79B80C8-3DB0-5CCA-E7B3-540FE1F7F3D8}"/>
              </a:ext>
            </a:extLst>
          </p:cNvPr>
          <p:cNvSpPr txBox="1"/>
          <p:nvPr/>
        </p:nvSpPr>
        <p:spPr bwMode="auto">
          <a:xfrm>
            <a:off x="691011" y="986357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Таблица 2 – Средства разработки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Объект 6"/>
          <p:cNvSpPr txBox="1"/>
          <p:nvPr/>
        </p:nvSpPr>
        <p:spPr bwMode="auto">
          <a:xfrm>
            <a:off x="4452484" y="5630083"/>
            <a:ext cx="3487784" cy="5729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  <a:defRPr/>
            </a:pPr>
            <a:endParaRPr lang="ru-RU">
              <a:latin typeface="Times New Roman"/>
              <a:cs typeface="Times New Rom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F0961E-1011-9045-5261-2C398BFC4D2C}"/>
              </a:ext>
            </a:extLst>
          </p:cNvPr>
          <p:cNvSpPr txBox="1"/>
          <p:nvPr/>
        </p:nvSpPr>
        <p:spPr bwMode="auto">
          <a:xfrm>
            <a:off x="0" y="5452742"/>
            <a:ext cx="39511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dirty="0">
                <a:latin typeface="Times New Roman"/>
                <a:cs typeface="Times New Roman"/>
              </a:rPr>
              <a:t>Рисунок </a:t>
            </a:r>
            <a:r>
              <a:rPr lang="ru-RU" dirty="0">
                <a:latin typeface="Times New Roman"/>
                <a:cs typeface="Times New Roman"/>
              </a:rPr>
              <a:t>1</a:t>
            </a:r>
            <a:r>
              <a:rPr lang="ru-RU" dirty="0" smtClean="0">
                <a:latin typeface="Times New Roman"/>
                <a:cs typeface="Times New Roman"/>
              </a:rPr>
              <a:t> </a:t>
            </a:r>
            <a:r>
              <a:rPr lang="ru-RU" dirty="0">
                <a:latin typeface="Times New Roman"/>
                <a:cs typeface="Times New Roman"/>
              </a:rPr>
              <a:t>– Библиотека </a:t>
            </a:r>
            <a:r>
              <a:rPr lang="en-US" dirty="0">
                <a:latin typeface="Times New Roman"/>
                <a:cs typeface="Times New Roman"/>
              </a:rPr>
              <a:t>React</a:t>
            </a:r>
            <a:endParaRPr lang="ru-RU" dirty="0"/>
          </a:p>
        </p:txBody>
      </p:sp>
      <p:pic>
        <p:nvPicPr>
          <p:cNvPr id="9" name="Picture 4" descr="Picture background">
            <a:extLst>
              <a:ext uri="{FF2B5EF4-FFF2-40B4-BE49-F238E27FC236}">
                <a16:creationId xmlns:a16="http://schemas.microsoft.com/office/drawing/2014/main" id="{6E9709AA-345F-5807-23EC-DF603A2248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815" y="3529807"/>
            <a:ext cx="2202108" cy="2202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E1981FD-05ED-22DF-C7EF-C745824C31F8}"/>
              </a:ext>
            </a:extLst>
          </p:cNvPr>
          <p:cNvSpPr txBox="1"/>
          <p:nvPr/>
        </p:nvSpPr>
        <p:spPr bwMode="auto">
          <a:xfrm>
            <a:off x="3006198" y="5153037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dirty="0">
                <a:latin typeface="Times New Roman"/>
                <a:cs typeface="Times New Roman"/>
              </a:rPr>
              <a:t>Рисунок </a:t>
            </a:r>
            <a:r>
              <a:rPr lang="ru-RU" dirty="0">
                <a:latin typeface="Times New Roman"/>
                <a:cs typeface="Times New Roman"/>
              </a:rPr>
              <a:t>2</a:t>
            </a:r>
            <a:r>
              <a:rPr lang="ru-RU" dirty="0" smtClean="0">
                <a:latin typeface="Times New Roman"/>
                <a:cs typeface="Times New Roman"/>
              </a:rPr>
              <a:t> </a:t>
            </a:r>
            <a:r>
              <a:rPr lang="ru-RU" dirty="0">
                <a:latin typeface="Times New Roman"/>
                <a:cs typeface="Times New Roman"/>
              </a:rPr>
              <a:t>– </a:t>
            </a:r>
            <a:r>
              <a:rPr lang="en-US" dirty="0" smtClean="0">
                <a:latin typeface="Times New Roman"/>
                <a:cs typeface="Times New Roman"/>
              </a:rPr>
              <a:t>PostgreSQL</a:t>
            </a:r>
            <a:endParaRPr lang="ru-RU" dirty="0"/>
          </a:p>
        </p:txBody>
      </p:sp>
      <p:pic>
        <p:nvPicPr>
          <p:cNvPr id="1034" name="Picture 10" descr="Picture background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483" t="8260" r="32075"/>
          <a:stretch/>
        </p:blipFill>
        <p:spPr bwMode="auto">
          <a:xfrm>
            <a:off x="9407795" y="3816125"/>
            <a:ext cx="1263357" cy="1839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E1981FD-05ED-22DF-C7EF-C745824C31F8}"/>
              </a:ext>
            </a:extLst>
          </p:cNvPr>
          <p:cNvSpPr txBox="1"/>
          <p:nvPr/>
        </p:nvSpPr>
        <p:spPr bwMode="auto">
          <a:xfrm>
            <a:off x="6990719" y="5630083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dirty="0">
                <a:latin typeface="Times New Roman"/>
                <a:cs typeface="Times New Roman"/>
              </a:rPr>
              <a:t>Рисунок 3</a:t>
            </a:r>
            <a:r>
              <a:rPr lang="ru-RU" dirty="0" smtClean="0">
                <a:latin typeface="Times New Roman"/>
                <a:cs typeface="Times New Roman"/>
              </a:rPr>
              <a:t> </a:t>
            </a:r>
            <a:r>
              <a:rPr lang="ru-RU" dirty="0">
                <a:latin typeface="Times New Roman"/>
                <a:cs typeface="Times New Roman"/>
              </a:rPr>
              <a:t>– </a:t>
            </a:r>
            <a:r>
              <a:rPr lang="en-US" dirty="0" err="1" smtClean="0">
                <a:latin typeface="Times New Roman"/>
                <a:cs typeface="Times New Roman"/>
              </a:rPr>
              <a:t>Golang</a:t>
            </a:r>
            <a:endParaRPr lang="ru-RU" dirty="0"/>
          </a:p>
        </p:txBody>
      </p:sp>
      <p:pic>
        <p:nvPicPr>
          <p:cNvPr id="1036" name="Picture 12" descr="Picture background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82" t="21141" r="35958" b="25139"/>
          <a:stretch/>
        </p:blipFill>
        <p:spPr bwMode="auto">
          <a:xfrm>
            <a:off x="5365396" y="3749013"/>
            <a:ext cx="1314060" cy="1478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xmlns:w="http://schemas.openxmlformats.org/wordprocessingml/2006/main" xmlns:m="http://schemas.openxmlformats.org/officeDocument/2006/math" xmlns="" Requires="p159">
      <p:transition p14:dur="2000" advClick="1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 bwMode="auto">
          <a:xfrm>
            <a:off x="2035352" y="275833"/>
            <a:ext cx="8123451" cy="378818"/>
          </a:xfrm>
          <a:prstGeom prst="rect">
            <a:avLst/>
          </a:prstGeom>
        </p:spPr>
        <p:txBody>
          <a:bodyPr vert="horz" wrap="square" lIns="0" tIns="12699" rIns="0" bIns="0" rtlCol="0">
            <a:spAutoFit/>
          </a:bodyPr>
          <a:lstStyle/>
          <a:p>
            <a:pPr marL="217170" algn="ctr">
              <a:lnSpc>
                <a:spcPct val="100000"/>
              </a:lnSpc>
              <a:spcBef>
                <a:spcPts val="100"/>
              </a:spcBef>
              <a:defRPr/>
            </a:pPr>
            <a:r>
              <a:rPr lang="ru-RU" sz="2400" b="1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Проектирование функциональной схемы</a:t>
            </a:r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 bwMode="auto"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80"/>
              </a:lnSpc>
              <a:defRPr/>
            </a:pPr>
            <a:fld id="{81D60167-4931-47E6-BA6A-407CBD079E47}" type="slidenum">
              <a:rPr/>
              <a:t>8</a:t>
            </a:fld>
            <a:endParaRPr/>
          </a:p>
        </p:txBody>
      </p:sp>
      <p:pic>
        <p:nvPicPr>
          <p:cNvPr id="8" name="Рисунок 7" descr="C:\Study\4year\Diplom\diagrams\png\02_A0.png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4591" y="1033604"/>
            <a:ext cx="8304212" cy="5239078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0F0961E-1011-9045-5261-2C398BFC4D2C}"/>
              </a:ext>
            </a:extLst>
          </p:cNvPr>
          <p:cNvSpPr txBox="1"/>
          <p:nvPr/>
        </p:nvSpPr>
        <p:spPr bwMode="auto">
          <a:xfrm>
            <a:off x="3429000" y="6282303"/>
            <a:ext cx="73084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dirty="0">
                <a:latin typeface="Times New Roman"/>
                <a:cs typeface="Times New Roman"/>
              </a:rPr>
              <a:t>Рисунок 4</a:t>
            </a:r>
            <a:r>
              <a:rPr lang="ru-RU" dirty="0" smtClean="0">
                <a:latin typeface="Times New Roman"/>
                <a:cs typeface="Times New Roman"/>
              </a:rPr>
              <a:t> </a:t>
            </a:r>
            <a:r>
              <a:rPr lang="ru-RU" dirty="0">
                <a:latin typeface="Times New Roman"/>
                <a:cs typeface="Times New Roman"/>
              </a:rPr>
              <a:t>– </a:t>
            </a:r>
            <a:r>
              <a:rPr lang="ru-RU" dirty="0" smtClean="0">
                <a:latin typeface="Times New Roman"/>
                <a:ea typeface="Times New Roman"/>
                <a:cs typeface="Times New Roman"/>
              </a:rPr>
              <a:t>Декомпозиция функциональной </a:t>
            </a:r>
            <a:r>
              <a:rPr lang="ru-RU" dirty="0">
                <a:latin typeface="Times New Roman"/>
                <a:ea typeface="Times New Roman"/>
                <a:cs typeface="Times New Roman"/>
              </a:rPr>
              <a:t>схемы</a:t>
            </a:r>
            <a:endParaRPr lang="ru-RU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xmlns:w="http://schemas.openxmlformats.org/wordprocessingml/2006/main" xmlns:m="http://schemas.openxmlformats.org/officeDocument/2006/math" xmlns="" Requires="p159">
      <p:transition p14:dur="2000" advClick="1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1960753" name="object 2"/>
          <p:cNvSpPr txBox="1">
            <a:spLocks noGrp="1"/>
          </p:cNvSpPr>
          <p:nvPr>
            <p:ph type="title"/>
          </p:nvPr>
        </p:nvSpPr>
        <p:spPr bwMode="auto">
          <a:xfrm>
            <a:off x="2035352" y="86424"/>
            <a:ext cx="8123091" cy="378818"/>
          </a:xfrm>
          <a:prstGeom prst="rect">
            <a:avLst/>
          </a:prstGeom>
        </p:spPr>
        <p:txBody>
          <a:bodyPr vert="horz" wrap="square" lIns="0" tIns="12699" rIns="0" bIns="0" rtlCol="0">
            <a:spAutoFit/>
          </a:bodyPr>
          <a:lstStyle/>
          <a:p>
            <a:pPr>
              <a:defRPr/>
            </a:pPr>
            <a:r>
              <a:rPr/>
              <a:t>Проектирование архитектуры информационной системы</a:t>
            </a:r>
          </a:p>
        </p:txBody>
      </p:sp>
      <p:sp>
        <p:nvSpPr>
          <p:cNvPr id="1796217923" name="object 7"/>
          <p:cNvSpPr txBox="1">
            <a:spLocks noGrp="1"/>
          </p:cNvSpPr>
          <p:nvPr>
            <p:ph type="sldNum" sz="quarter" idx="7"/>
          </p:nvPr>
        </p:nvSpPr>
        <p:spPr bwMode="auto"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099">
              <a:lnSpc>
                <a:spcPts val="2379"/>
              </a:lnSpc>
              <a:defRPr/>
            </a:pPr>
            <a:fld id="{0000D833-7BE9-434F-63A9-C04BB3F1CBC6}" type="slidenum">
              <a:rPr/>
              <a:t>9</a:t>
            </a:fld>
            <a:endParaRPr/>
          </a:p>
        </p:txBody>
      </p:sp>
      <p:pic>
        <p:nvPicPr>
          <p:cNvPr id="6" name="Рисунок 5"/>
          <p:cNvPicPr/>
          <p:nvPr/>
        </p:nvPicPr>
        <p:blipFill>
          <a:blip r:embed="rId3"/>
          <a:stretch>
            <a:fillRect/>
          </a:stretch>
        </p:blipFill>
        <p:spPr>
          <a:xfrm>
            <a:off x="838200" y="596310"/>
            <a:ext cx="4800600" cy="5499690"/>
          </a:xfrm>
          <a:prstGeom prst="rect">
            <a:avLst/>
          </a:prstGeom>
        </p:spPr>
      </p:pic>
      <p:pic>
        <p:nvPicPr>
          <p:cNvPr id="7" name="Рисунок 6"/>
          <p:cNvPicPr/>
          <p:nvPr/>
        </p:nvPicPr>
        <p:blipFill>
          <a:blip r:embed="rId4"/>
          <a:stretch>
            <a:fillRect/>
          </a:stretch>
        </p:blipFill>
        <p:spPr bwMode="auto">
          <a:xfrm>
            <a:off x="7467600" y="822778"/>
            <a:ext cx="2891649" cy="478744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0F0961E-1011-9045-5261-2C398BFC4D2C}"/>
              </a:ext>
            </a:extLst>
          </p:cNvPr>
          <p:cNvSpPr txBox="1"/>
          <p:nvPr/>
        </p:nvSpPr>
        <p:spPr bwMode="auto">
          <a:xfrm>
            <a:off x="70626" y="6137727"/>
            <a:ext cx="6629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dirty="0">
                <a:latin typeface="Times New Roman"/>
                <a:cs typeface="Times New Roman"/>
              </a:rPr>
              <a:t>Рисунок </a:t>
            </a:r>
            <a:r>
              <a:rPr lang="ru-RU" dirty="0" smtClean="0">
                <a:latin typeface="Times New Roman"/>
                <a:cs typeface="Times New Roman"/>
              </a:rPr>
              <a:t>5 </a:t>
            </a:r>
            <a:r>
              <a:rPr lang="ru-RU" dirty="0">
                <a:latin typeface="Times New Roman"/>
                <a:cs typeface="Times New Roman"/>
              </a:rPr>
              <a:t>– </a:t>
            </a:r>
            <a:r>
              <a:rPr lang="ru-RU" dirty="0">
                <a:latin typeface="Times New Roman"/>
                <a:ea typeface="Calibri"/>
                <a:cs typeface="Times New Roman"/>
              </a:rPr>
              <a:t>Архитектура системы (диаграмма компонентов)</a:t>
            </a:r>
            <a:endParaRPr lang="ru-RU" dirty="0">
              <a:latin typeface="Times New Roman"/>
              <a:cs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F0961E-1011-9045-5261-2C398BFC4D2C}"/>
              </a:ext>
            </a:extLst>
          </p:cNvPr>
          <p:cNvSpPr txBox="1"/>
          <p:nvPr/>
        </p:nvSpPr>
        <p:spPr bwMode="auto">
          <a:xfrm>
            <a:off x="6286500" y="5638800"/>
            <a:ext cx="6629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dirty="0">
                <a:latin typeface="Times New Roman"/>
                <a:cs typeface="Times New Roman"/>
              </a:rPr>
              <a:t>Рисунок </a:t>
            </a:r>
            <a:r>
              <a:rPr lang="ru-RU" dirty="0">
                <a:latin typeface="Times New Roman"/>
                <a:cs typeface="Times New Roman"/>
              </a:rPr>
              <a:t>6</a:t>
            </a:r>
            <a:r>
              <a:rPr lang="ru-RU" dirty="0" smtClean="0">
                <a:latin typeface="Times New Roman"/>
                <a:cs typeface="Times New Roman"/>
              </a:rPr>
              <a:t> </a:t>
            </a:r>
            <a:r>
              <a:rPr lang="ru-RU" dirty="0">
                <a:latin typeface="Times New Roman"/>
                <a:cs typeface="Times New Roman"/>
              </a:rPr>
              <a:t>– </a:t>
            </a:r>
            <a:r>
              <a:rPr lang="ru-RU" dirty="0">
                <a:latin typeface="Times New Roman"/>
                <a:cs typeface="Times New Roman"/>
              </a:rPr>
              <a:t>Структура разработанных модулей</a:t>
            </a:r>
            <a:endParaRPr lang="ru-RU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xmlns:w="http://schemas.openxmlformats.org/wordprocessingml/2006/main" xmlns:m="http://schemas.openxmlformats.org/officeDocument/2006/math" xmlns="" Requires="p159">
      <p:transition p14:dur="2000" advClick="1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3379275" name="object 2"/>
          <p:cNvSpPr txBox="1">
            <a:spLocks noGrp="1"/>
          </p:cNvSpPr>
          <p:nvPr>
            <p:ph type="title"/>
          </p:nvPr>
        </p:nvSpPr>
        <p:spPr bwMode="auto">
          <a:xfrm>
            <a:off x="2035352" y="275833"/>
            <a:ext cx="8130651" cy="378818"/>
          </a:xfrm>
          <a:prstGeom prst="rect">
            <a:avLst/>
          </a:prstGeom>
        </p:spPr>
        <p:txBody>
          <a:bodyPr vert="horz" wrap="square" lIns="0" tIns="12699" rIns="0" bIns="0" rtlCol="0">
            <a:spAutoFit/>
          </a:bodyPr>
          <a:lstStyle/>
          <a:p>
            <a:pPr marL="217170" algn="ctr">
              <a:lnSpc>
                <a:spcPct val="100000"/>
              </a:lnSpc>
              <a:spcBef>
                <a:spcPts val="99"/>
              </a:spcBef>
              <a:defRPr/>
            </a:pPr>
            <a:r>
              <a:rPr lang="ru-RU" sz="2400" b="1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Разработка диаграмм логической модели</a:t>
            </a:r>
            <a:r>
              <a:rPr lang="ru-RU"/>
              <a:t> системы</a:t>
            </a:r>
            <a:endParaRPr/>
          </a:p>
        </p:txBody>
      </p:sp>
      <p:sp>
        <p:nvSpPr>
          <p:cNvPr id="1252174746" name="object 7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11125200" y="6109196"/>
            <a:ext cx="558097" cy="3024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099">
              <a:lnSpc>
                <a:spcPts val="2379"/>
              </a:lnSpc>
              <a:defRPr/>
            </a:pPr>
            <a:fld id="{FFEEA851-E30D-72D0-5A37-66A15EB391C1}" type="slidenum">
              <a:rPr/>
              <a:t>10</a:t>
            </a:fld>
            <a:endParaRPr/>
          </a:p>
        </p:txBody>
      </p:sp>
      <p:pic>
        <p:nvPicPr>
          <p:cNvPr id="6" name="Рисунок 5"/>
          <p:cNvPicPr/>
          <p:nvPr/>
        </p:nvPicPr>
        <p:blipFill>
          <a:blip r:embed="rId3"/>
          <a:stretch>
            <a:fillRect/>
          </a:stretch>
        </p:blipFill>
        <p:spPr>
          <a:xfrm>
            <a:off x="492326" y="830592"/>
            <a:ext cx="4899025" cy="509936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0F0961E-1011-9045-5261-2C398BFC4D2C}"/>
              </a:ext>
            </a:extLst>
          </p:cNvPr>
          <p:cNvSpPr txBox="1"/>
          <p:nvPr/>
        </p:nvSpPr>
        <p:spPr bwMode="auto">
          <a:xfrm>
            <a:off x="0" y="5932919"/>
            <a:ext cx="6629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dirty="0">
                <a:latin typeface="Times New Roman"/>
                <a:cs typeface="Times New Roman"/>
              </a:rPr>
              <a:t>Рисунок </a:t>
            </a:r>
            <a:r>
              <a:rPr lang="ru-RU" dirty="0" smtClean="0">
                <a:latin typeface="Times New Roman"/>
                <a:cs typeface="Times New Roman"/>
              </a:rPr>
              <a:t>7 </a:t>
            </a:r>
            <a:r>
              <a:rPr lang="ru-RU" dirty="0">
                <a:latin typeface="Times New Roman"/>
                <a:cs typeface="Times New Roman"/>
              </a:rPr>
              <a:t>– </a:t>
            </a:r>
            <a:r>
              <a:rPr lang="ru-RU" dirty="0">
                <a:latin typeface="Times New Roman"/>
                <a:ea typeface="Times New Roman"/>
                <a:cs typeface="Times New Roman"/>
              </a:rPr>
              <a:t>Схема связи страниц клиентской части ИС</a:t>
            </a:r>
            <a:endParaRPr lang="ru-RU" dirty="0">
              <a:latin typeface="Times New Roman"/>
              <a:cs typeface="Times New Roman"/>
            </a:endParaRPr>
          </a:p>
        </p:txBody>
      </p:sp>
      <p:pic>
        <p:nvPicPr>
          <p:cNvPr id="8" name="Рисунок 7"/>
          <p:cNvPicPr/>
          <p:nvPr/>
        </p:nvPicPr>
        <p:blipFill>
          <a:blip r:embed="rId4"/>
          <a:stretch>
            <a:fillRect/>
          </a:stretch>
        </p:blipFill>
        <p:spPr>
          <a:xfrm>
            <a:off x="5867400" y="670833"/>
            <a:ext cx="5118832" cy="531484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0F0961E-1011-9045-5261-2C398BFC4D2C}"/>
              </a:ext>
            </a:extLst>
          </p:cNvPr>
          <p:cNvSpPr txBox="1"/>
          <p:nvPr/>
        </p:nvSpPr>
        <p:spPr bwMode="auto">
          <a:xfrm>
            <a:off x="5843257" y="5959301"/>
            <a:ext cx="54343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dirty="0">
                <a:latin typeface="Times New Roman"/>
                <a:cs typeface="Times New Roman"/>
              </a:rPr>
              <a:t>Рисунок </a:t>
            </a:r>
            <a:r>
              <a:rPr lang="ru-RU" dirty="0">
                <a:latin typeface="Times New Roman"/>
                <a:cs typeface="Times New Roman"/>
              </a:rPr>
              <a:t>8</a:t>
            </a:r>
            <a:r>
              <a:rPr lang="ru-RU" dirty="0" smtClean="0">
                <a:latin typeface="Times New Roman"/>
                <a:cs typeface="Times New Roman"/>
              </a:rPr>
              <a:t> </a:t>
            </a:r>
            <a:r>
              <a:rPr lang="ru-RU" dirty="0">
                <a:latin typeface="Times New Roman"/>
                <a:cs typeface="Times New Roman"/>
              </a:rPr>
              <a:t>– </a:t>
            </a:r>
            <a:r>
              <a:rPr lang="ru-RU" dirty="0" smtClean="0">
                <a:latin typeface="Times New Roman"/>
                <a:cs typeface="Times New Roman"/>
              </a:rPr>
              <a:t>Диаграмма классов основног</a:t>
            </a:r>
            <a:r>
              <a:rPr lang="ru-RU" dirty="0" smtClean="0">
                <a:latin typeface="Times New Roman"/>
                <a:cs typeface="Times New Roman"/>
              </a:rPr>
              <a:t>о сервиса</a:t>
            </a:r>
            <a:endParaRPr lang="ru-RU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xmlns:w="http://schemas.openxmlformats.org/wordprocessingml/2006/main" xmlns:m="http://schemas.openxmlformats.org/officeDocument/2006/math" xmlns="" Requires="p159">
      <p:transition p14:dur="2000" advClick="1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9707952" name="object 2"/>
          <p:cNvSpPr txBox="1">
            <a:spLocks noGrp="1"/>
          </p:cNvSpPr>
          <p:nvPr>
            <p:ph type="title"/>
          </p:nvPr>
        </p:nvSpPr>
        <p:spPr bwMode="auto">
          <a:xfrm>
            <a:off x="1954114" y="314643"/>
            <a:ext cx="8131371" cy="378818"/>
          </a:xfrm>
          <a:prstGeom prst="rect">
            <a:avLst/>
          </a:prstGeom>
        </p:spPr>
        <p:txBody>
          <a:bodyPr vert="horz" wrap="square" lIns="0" tIns="12699" rIns="0" bIns="0" rtlCol="0">
            <a:spAutoFit/>
          </a:bodyPr>
          <a:lstStyle/>
          <a:p>
            <a:pPr marL="217170" algn="ctr">
              <a:lnSpc>
                <a:spcPct val="100000"/>
              </a:lnSpc>
              <a:spcBef>
                <a:spcPts val="99"/>
              </a:spcBef>
              <a:defRPr/>
            </a:pPr>
            <a:r>
              <a:rPr lang="ru-RU" sz="2400" b="1" i="0" u="none" strike="noStrike" cap="none" spc="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Проектирование схемы базы данных</a:t>
            </a:r>
            <a:endParaRPr dirty="0"/>
          </a:p>
        </p:txBody>
      </p:sp>
      <p:sp>
        <p:nvSpPr>
          <p:cNvPr id="698553044" name="object 7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10765908" y="5942481"/>
            <a:ext cx="693449" cy="3024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099">
              <a:lnSpc>
                <a:spcPts val="2379"/>
              </a:lnSpc>
              <a:defRPr/>
            </a:pPr>
            <a:fld id="{EC2A81F4-889F-DA5F-C963-A45F70E75F19}" type="slidenum">
              <a:rPr/>
              <a:t>11</a:t>
            </a:fld>
            <a:endParaRPr/>
          </a:p>
        </p:txBody>
      </p:sp>
      <p:pic>
        <p:nvPicPr>
          <p:cNvPr id="7" name="Рисунок 6"/>
          <p:cNvPicPr/>
          <p:nvPr/>
        </p:nvPicPr>
        <p:blipFill>
          <a:blip r:embed="rId3"/>
          <a:stretch>
            <a:fillRect/>
          </a:stretch>
        </p:blipFill>
        <p:spPr>
          <a:xfrm>
            <a:off x="6324600" y="1288002"/>
            <a:ext cx="5562600" cy="3664998"/>
          </a:xfrm>
          <a:prstGeom prst="rect">
            <a:avLst/>
          </a:prstGeom>
        </p:spPr>
      </p:pic>
      <p:pic>
        <p:nvPicPr>
          <p:cNvPr id="8" name="Рисунок 7"/>
          <p:cNvPicPr/>
          <p:nvPr/>
        </p:nvPicPr>
        <p:blipFill>
          <a:blip r:embed="rId4"/>
          <a:stretch>
            <a:fillRect/>
          </a:stretch>
        </p:blipFill>
        <p:spPr>
          <a:xfrm>
            <a:off x="228600" y="1295400"/>
            <a:ext cx="5791200" cy="36576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0F0961E-1011-9045-5261-2C398BFC4D2C}"/>
              </a:ext>
            </a:extLst>
          </p:cNvPr>
          <p:cNvSpPr txBox="1"/>
          <p:nvPr/>
        </p:nvSpPr>
        <p:spPr bwMode="auto">
          <a:xfrm>
            <a:off x="1143000" y="4953740"/>
            <a:ext cx="6629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dirty="0">
                <a:latin typeface="Times New Roman"/>
                <a:cs typeface="Times New Roman"/>
              </a:rPr>
              <a:t>Рисунок </a:t>
            </a:r>
            <a:r>
              <a:rPr lang="ru-RU" dirty="0">
                <a:latin typeface="Times New Roman"/>
                <a:cs typeface="Times New Roman"/>
              </a:rPr>
              <a:t>9</a:t>
            </a:r>
            <a:r>
              <a:rPr lang="ru-RU" dirty="0" smtClean="0">
                <a:latin typeface="Times New Roman"/>
                <a:cs typeface="Times New Roman"/>
              </a:rPr>
              <a:t> </a:t>
            </a:r>
            <a:r>
              <a:rPr lang="ru-RU" dirty="0">
                <a:latin typeface="Times New Roman"/>
                <a:cs typeface="Times New Roman"/>
              </a:rPr>
              <a:t>– </a:t>
            </a:r>
            <a:r>
              <a:rPr lang="ru-RU" dirty="0" smtClean="0">
                <a:latin typeface="Times New Roman"/>
                <a:ea typeface="Times New Roman"/>
                <a:cs typeface="Times New Roman"/>
              </a:rPr>
              <a:t>Логическая схема БД</a:t>
            </a:r>
            <a:endParaRPr lang="ru-RU" dirty="0">
              <a:latin typeface="Times New Roman"/>
              <a:cs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F0961E-1011-9045-5261-2C398BFC4D2C}"/>
              </a:ext>
            </a:extLst>
          </p:cNvPr>
          <p:cNvSpPr txBox="1"/>
          <p:nvPr/>
        </p:nvSpPr>
        <p:spPr bwMode="auto">
          <a:xfrm>
            <a:off x="7239000" y="4987486"/>
            <a:ext cx="6629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dirty="0">
                <a:latin typeface="Times New Roman"/>
                <a:cs typeface="Times New Roman"/>
              </a:rPr>
              <a:t>Рисунок </a:t>
            </a:r>
            <a:r>
              <a:rPr lang="ru-RU" dirty="0" smtClean="0">
                <a:latin typeface="Times New Roman"/>
                <a:cs typeface="Times New Roman"/>
              </a:rPr>
              <a:t>10 </a:t>
            </a:r>
            <a:r>
              <a:rPr lang="ru-RU" dirty="0">
                <a:latin typeface="Times New Roman"/>
                <a:cs typeface="Times New Roman"/>
              </a:rPr>
              <a:t>– </a:t>
            </a:r>
            <a:r>
              <a:rPr lang="ru-RU" dirty="0" smtClean="0">
                <a:latin typeface="Times New Roman"/>
                <a:ea typeface="Times New Roman"/>
                <a:cs typeface="Times New Roman"/>
              </a:rPr>
              <a:t>Физическая схема БД</a:t>
            </a:r>
            <a:endParaRPr lang="ru-RU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xmlns:w="http://schemas.openxmlformats.org/wordprocessingml/2006/main" xmlns:m="http://schemas.openxmlformats.org/officeDocument/2006/math" xmlns="" Requires="p159">
      <p:transition p14:dur="2000" advClick="1"/>
    </mc:Choice>
    <mc:Fallback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9707952" name="object 2"/>
          <p:cNvSpPr txBox="1">
            <a:spLocks noGrp="1"/>
          </p:cNvSpPr>
          <p:nvPr>
            <p:ph type="title"/>
          </p:nvPr>
        </p:nvSpPr>
        <p:spPr bwMode="auto">
          <a:xfrm>
            <a:off x="1954114" y="288010"/>
            <a:ext cx="8131371" cy="378818"/>
          </a:xfrm>
          <a:prstGeom prst="rect">
            <a:avLst/>
          </a:prstGeom>
        </p:spPr>
        <p:txBody>
          <a:bodyPr vert="horz" wrap="square" lIns="0" tIns="12699" rIns="0" bIns="0" rtlCol="0">
            <a:spAutoFit/>
          </a:bodyPr>
          <a:lstStyle/>
          <a:p>
            <a:pPr marL="217170" algn="ctr">
              <a:lnSpc>
                <a:spcPct val="100000"/>
              </a:lnSpc>
              <a:spcBef>
                <a:spcPts val="99"/>
              </a:spcBef>
              <a:defRPr/>
            </a:pPr>
            <a:r>
              <a:rPr lang="ru-RU" dirty="0" smtClean="0"/>
              <a:t>Диаграммы вариантов использования и дерево функций</a:t>
            </a:r>
            <a:endParaRPr dirty="0"/>
          </a:p>
        </p:txBody>
      </p:sp>
      <p:sp>
        <p:nvSpPr>
          <p:cNvPr id="698553044" name="object 7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10765908" y="5942481"/>
            <a:ext cx="693449" cy="3024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099">
              <a:lnSpc>
                <a:spcPts val="2379"/>
              </a:lnSpc>
              <a:defRPr/>
            </a:pPr>
            <a:fld id="{EC2A81F4-889F-DA5F-C963-A45F70E75F19}" type="slidenum">
              <a:rPr/>
              <a:t>12</a:t>
            </a:fld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F0961E-1011-9045-5261-2C398BFC4D2C}"/>
              </a:ext>
            </a:extLst>
          </p:cNvPr>
          <p:cNvSpPr txBox="1"/>
          <p:nvPr/>
        </p:nvSpPr>
        <p:spPr bwMode="auto">
          <a:xfrm>
            <a:off x="1219200" y="5599693"/>
            <a:ext cx="6629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dirty="0">
                <a:latin typeface="Times New Roman"/>
                <a:cs typeface="Times New Roman"/>
              </a:rPr>
              <a:t>Рисунок </a:t>
            </a:r>
            <a:r>
              <a:rPr lang="ru-RU" dirty="0" smtClean="0">
                <a:latin typeface="Times New Roman"/>
                <a:cs typeface="Times New Roman"/>
              </a:rPr>
              <a:t>11 </a:t>
            </a:r>
            <a:r>
              <a:rPr lang="ru-RU" dirty="0">
                <a:latin typeface="Times New Roman"/>
                <a:cs typeface="Times New Roman"/>
              </a:rPr>
              <a:t>– </a:t>
            </a:r>
            <a:r>
              <a:rPr lang="en-US" dirty="0" smtClean="0">
                <a:latin typeface="Times New Roman"/>
                <a:ea typeface="Times New Roman"/>
                <a:cs typeface="Times New Roman"/>
              </a:rPr>
              <a:t>Use-case </a:t>
            </a:r>
            <a:r>
              <a:rPr lang="ru-RU" dirty="0" smtClean="0">
                <a:latin typeface="Times New Roman"/>
                <a:ea typeface="Times New Roman"/>
                <a:cs typeface="Times New Roman"/>
              </a:rPr>
              <a:t>диаграмма</a:t>
            </a:r>
            <a:endParaRPr lang="ru-RU" dirty="0">
              <a:latin typeface="Times New Roman"/>
              <a:cs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F0961E-1011-9045-5261-2C398BFC4D2C}"/>
              </a:ext>
            </a:extLst>
          </p:cNvPr>
          <p:cNvSpPr txBox="1"/>
          <p:nvPr/>
        </p:nvSpPr>
        <p:spPr bwMode="auto">
          <a:xfrm>
            <a:off x="7451208" y="4902537"/>
            <a:ext cx="6629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dirty="0">
                <a:latin typeface="Times New Roman"/>
                <a:cs typeface="Times New Roman"/>
              </a:rPr>
              <a:t>Рисунок </a:t>
            </a:r>
            <a:r>
              <a:rPr lang="ru-RU" dirty="0" smtClean="0">
                <a:latin typeface="Times New Roman"/>
                <a:cs typeface="Times New Roman"/>
              </a:rPr>
              <a:t>12 </a:t>
            </a:r>
            <a:r>
              <a:rPr lang="ru-RU" dirty="0">
                <a:latin typeface="Times New Roman"/>
                <a:cs typeface="Times New Roman"/>
              </a:rPr>
              <a:t>– </a:t>
            </a:r>
            <a:r>
              <a:rPr lang="ru-RU" dirty="0" smtClean="0">
                <a:latin typeface="Times New Roman"/>
                <a:ea typeface="Times New Roman"/>
                <a:cs typeface="Times New Roman"/>
              </a:rPr>
              <a:t>Дерево функций</a:t>
            </a:r>
            <a:endParaRPr lang="ru-RU" dirty="0">
              <a:latin typeface="Times New Roman"/>
              <a:cs typeface="Times New Roman"/>
            </a:endParaRPr>
          </a:p>
        </p:txBody>
      </p:sp>
      <p:pic>
        <p:nvPicPr>
          <p:cNvPr id="11" name="Рисунок 10"/>
          <p:cNvPicPr/>
          <p:nvPr/>
        </p:nvPicPr>
        <p:blipFill rotWithShape="1">
          <a:blip r:embed="rId3"/>
          <a:srcRect l="3529" r="2501"/>
          <a:stretch/>
        </p:blipFill>
        <p:spPr bwMode="auto">
          <a:xfrm>
            <a:off x="152400" y="1100503"/>
            <a:ext cx="5972175" cy="439102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2" name="Рисунок 11"/>
          <p:cNvPicPr/>
          <p:nvPr/>
        </p:nvPicPr>
        <p:blipFill>
          <a:blip r:embed="rId4"/>
          <a:stretch>
            <a:fillRect/>
          </a:stretch>
        </p:blipFill>
        <p:spPr>
          <a:xfrm>
            <a:off x="6154167" y="1990772"/>
            <a:ext cx="5940425" cy="2610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1836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xmlns:w="http://schemas.openxmlformats.org/wordprocessingml/2006/main" xmlns:m="http://schemas.openxmlformats.org/officeDocument/2006/math" xmlns="" Requires="p159">
      <p:transition p14:dur="2000" advClick="1"/>
    </mc:Choice>
    <mc:Fallback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9707952" name="object 2"/>
          <p:cNvSpPr txBox="1">
            <a:spLocks noGrp="1"/>
          </p:cNvSpPr>
          <p:nvPr>
            <p:ph type="title"/>
          </p:nvPr>
        </p:nvSpPr>
        <p:spPr bwMode="auto">
          <a:xfrm>
            <a:off x="1975361" y="19391"/>
            <a:ext cx="8131371" cy="378818"/>
          </a:xfrm>
          <a:prstGeom prst="rect">
            <a:avLst/>
          </a:prstGeom>
        </p:spPr>
        <p:txBody>
          <a:bodyPr vert="horz" wrap="square" lIns="0" tIns="12699" rIns="0" bIns="0" rtlCol="0">
            <a:spAutoFit/>
          </a:bodyPr>
          <a:lstStyle/>
          <a:p>
            <a:pPr marL="217170" algn="ctr">
              <a:lnSpc>
                <a:spcPct val="100000"/>
              </a:lnSpc>
              <a:spcBef>
                <a:spcPts val="99"/>
              </a:spcBef>
              <a:defRPr/>
            </a:pPr>
            <a:r>
              <a:rPr lang="ru-RU" sz="2400" b="1" i="0" u="none" strike="noStrike" cap="none" spc="0" dirty="0" smtClean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Разработанные страницы</a:t>
            </a:r>
            <a:endParaRPr dirty="0"/>
          </a:p>
        </p:txBody>
      </p:sp>
      <p:sp>
        <p:nvSpPr>
          <p:cNvPr id="698553044" name="object 7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10765908" y="5942481"/>
            <a:ext cx="693449" cy="3024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099">
              <a:lnSpc>
                <a:spcPts val="2379"/>
              </a:lnSpc>
              <a:defRPr/>
            </a:pPr>
            <a:fld id="{EC2A81F4-889F-DA5F-C963-A45F70E75F19}" type="slidenum">
              <a:rPr/>
              <a:t>13</a:t>
            </a:fld>
            <a:endParaRPr/>
          </a:p>
        </p:txBody>
      </p:sp>
      <p:sp>
        <p:nvSpPr>
          <p:cNvPr id="744994821" name="TextBox 11"/>
          <p:cNvSpPr txBox="1"/>
          <p:nvPr/>
        </p:nvSpPr>
        <p:spPr bwMode="auto">
          <a:xfrm>
            <a:off x="1039172" y="3497691"/>
            <a:ext cx="3421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ru-RU" dirty="0">
                <a:latin typeface="Times New Roman"/>
                <a:cs typeface="Times New Roman"/>
              </a:rPr>
              <a:t>Рисунок </a:t>
            </a:r>
            <a:r>
              <a:rPr lang="ru-RU" dirty="0" smtClean="0">
                <a:latin typeface="Times New Roman"/>
                <a:cs typeface="Times New Roman"/>
              </a:rPr>
              <a:t>13 – </a:t>
            </a:r>
            <a:r>
              <a:rPr lang="ru-RU" dirty="0">
                <a:latin typeface="Times New Roman"/>
                <a:cs typeface="Times New Roman"/>
              </a:rPr>
              <a:t>С</a:t>
            </a:r>
            <a:r>
              <a:rPr lang="ru-RU" dirty="0" smtClean="0">
                <a:latin typeface="Times New Roman"/>
                <a:ea typeface="Times New Roman"/>
                <a:cs typeface="Times New Roman"/>
              </a:rPr>
              <a:t>траница </a:t>
            </a:r>
            <a:r>
              <a:rPr lang="ru-RU" dirty="0" smtClean="0">
                <a:latin typeface="Times New Roman"/>
                <a:ea typeface="Times New Roman"/>
                <a:cs typeface="Times New Roman"/>
              </a:rPr>
              <a:t>расходов</a:t>
            </a:r>
            <a:endParaRPr lang="ru-RU" dirty="0">
              <a:latin typeface="Times New Roman"/>
              <a:cs typeface="Times New Roman"/>
            </a:endParaRPr>
          </a:p>
        </p:txBody>
      </p:sp>
      <p:pic>
        <p:nvPicPr>
          <p:cNvPr id="7" name="Рисунок 6"/>
          <p:cNvPicPr/>
          <p:nvPr/>
        </p:nvPicPr>
        <p:blipFill>
          <a:blip r:embed="rId3"/>
          <a:stretch>
            <a:fillRect/>
          </a:stretch>
        </p:blipFill>
        <p:spPr>
          <a:xfrm>
            <a:off x="416710" y="398209"/>
            <a:ext cx="4917290" cy="3183191"/>
          </a:xfrm>
          <a:prstGeom prst="rect">
            <a:avLst/>
          </a:prstGeom>
        </p:spPr>
      </p:pic>
      <p:sp>
        <p:nvSpPr>
          <p:cNvPr id="6" name="TextBox 11"/>
          <p:cNvSpPr txBox="1"/>
          <p:nvPr/>
        </p:nvSpPr>
        <p:spPr bwMode="auto">
          <a:xfrm>
            <a:off x="7762720" y="4724400"/>
            <a:ext cx="38958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dirty="0">
                <a:latin typeface="Times New Roman"/>
                <a:cs typeface="Times New Roman"/>
              </a:rPr>
              <a:t>Рисунок </a:t>
            </a:r>
            <a:r>
              <a:rPr lang="ru-RU" dirty="0" smtClean="0">
                <a:latin typeface="Times New Roman"/>
                <a:cs typeface="Times New Roman"/>
              </a:rPr>
              <a:t>15 </a:t>
            </a:r>
            <a:r>
              <a:rPr lang="ru-RU" dirty="0">
                <a:latin typeface="Times New Roman"/>
                <a:cs typeface="Times New Roman"/>
              </a:rPr>
              <a:t>– С</a:t>
            </a:r>
            <a:r>
              <a:rPr lang="ru-RU" dirty="0" smtClean="0">
                <a:latin typeface="Times New Roman"/>
                <a:cs typeface="Times New Roman"/>
              </a:rPr>
              <a:t>траница </a:t>
            </a:r>
            <a:r>
              <a:rPr lang="ru-RU" dirty="0" smtClean="0">
                <a:latin typeface="Times New Roman"/>
                <a:cs typeface="Times New Roman"/>
              </a:rPr>
              <a:t>управления задачами</a:t>
            </a:r>
            <a:endParaRPr lang="ru-RU" dirty="0">
              <a:latin typeface="Times New Roman"/>
              <a:cs typeface="Times New Roman"/>
            </a:endParaRPr>
          </a:p>
        </p:txBody>
      </p:sp>
      <p:pic>
        <p:nvPicPr>
          <p:cNvPr id="8" name="Рисунок 7"/>
          <p:cNvPicPr/>
          <p:nvPr/>
        </p:nvPicPr>
        <p:blipFill rotWithShape="1">
          <a:blip r:embed="rId4"/>
          <a:srcRect b="7581"/>
          <a:stretch/>
        </p:blipFill>
        <p:spPr bwMode="auto">
          <a:xfrm>
            <a:off x="2743201" y="3886200"/>
            <a:ext cx="5019520" cy="2971800"/>
          </a:xfrm>
          <a:prstGeom prst="rect">
            <a:avLst/>
          </a:prstGeom>
        </p:spPr>
      </p:pic>
      <p:pic>
        <p:nvPicPr>
          <p:cNvPr id="9" name="Рисунок 8"/>
          <p:cNvPicPr/>
          <p:nvPr/>
        </p:nvPicPr>
        <p:blipFill>
          <a:blip r:embed="rId5"/>
          <a:stretch>
            <a:fillRect/>
          </a:stretch>
        </p:blipFill>
        <p:spPr bwMode="auto">
          <a:xfrm>
            <a:off x="6248400" y="421289"/>
            <a:ext cx="4606292" cy="3127775"/>
          </a:xfrm>
          <a:prstGeom prst="rect">
            <a:avLst/>
          </a:prstGeom>
        </p:spPr>
      </p:pic>
      <p:sp>
        <p:nvSpPr>
          <p:cNvPr id="10" name="TextBox 11"/>
          <p:cNvSpPr txBox="1"/>
          <p:nvPr/>
        </p:nvSpPr>
        <p:spPr bwMode="auto">
          <a:xfrm>
            <a:off x="6400800" y="3488532"/>
            <a:ext cx="55347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dirty="0">
                <a:latin typeface="Times New Roman"/>
                <a:cs typeface="Times New Roman"/>
              </a:rPr>
              <a:t>Рисунок </a:t>
            </a:r>
            <a:r>
              <a:rPr lang="ru-RU" dirty="0" smtClean="0">
                <a:latin typeface="Times New Roman"/>
                <a:cs typeface="Times New Roman"/>
              </a:rPr>
              <a:t>14 </a:t>
            </a:r>
            <a:r>
              <a:rPr lang="ru-RU" dirty="0">
                <a:latin typeface="Times New Roman"/>
                <a:cs typeface="Times New Roman"/>
              </a:rPr>
              <a:t>– </a:t>
            </a:r>
            <a:r>
              <a:rPr lang="ru-RU" dirty="0" smtClean="0">
                <a:latin typeface="Times New Roman"/>
                <a:cs typeface="Times New Roman"/>
              </a:rPr>
              <a:t>Страница </a:t>
            </a:r>
            <a:r>
              <a:rPr lang="ru-RU" dirty="0">
                <a:latin typeface="Times New Roman"/>
                <a:cs typeface="Times New Roman"/>
              </a:rPr>
              <a:t>конкретного события </a:t>
            </a:r>
          </a:p>
        </p:txBody>
      </p:sp>
    </p:spTree>
    <p:extLst>
      <p:ext uri="{BB962C8B-B14F-4D97-AF65-F5344CB8AC3E}">
        <p14:creationId xmlns:p14="http://schemas.microsoft.com/office/powerpoint/2010/main" val="15639419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xmlns:w="http://schemas.openxmlformats.org/wordprocessingml/2006/main" xmlns:m="http://schemas.openxmlformats.org/officeDocument/2006/math" xmlns="" Requires="p159">
      <p:transition p14:dur="2000" advClick="1"/>
    </mc:Choice>
    <mc:Fallback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9707952" name="object 2"/>
          <p:cNvSpPr txBox="1">
            <a:spLocks noGrp="1"/>
          </p:cNvSpPr>
          <p:nvPr>
            <p:ph type="title"/>
          </p:nvPr>
        </p:nvSpPr>
        <p:spPr bwMode="auto">
          <a:xfrm>
            <a:off x="1975360" y="304800"/>
            <a:ext cx="8131371" cy="382155"/>
          </a:xfrm>
          <a:prstGeom prst="rect">
            <a:avLst/>
          </a:prstGeom>
        </p:spPr>
        <p:txBody>
          <a:bodyPr vert="horz" wrap="square" lIns="0" tIns="12699" rIns="0" bIns="0" rtlCol="0">
            <a:spAutoFit/>
          </a:bodyPr>
          <a:lstStyle/>
          <a:p>
            <a:pPr marL="217170" algn="ctr">
              <a:lnSpc>
                <a:spcPct val="100000"/>
              </a:lnSpc>
              <a:spcBef>
                <a:spcPts val="99"/>
              </a:spcBef>
              <a:defRPr/>
            </a:pPr>
            <a:r>
              <a:rPr lang="ru-RU" dirty="0" smtClean="0"/>
              <a:t>Тестирование в </a:t>
            </a:r>
            <a:r>
              <a:rPr lang="en-US" dirty="0" smtClean="0"/>
              <a:t>Postman</a:t>
            </a:r>
            <a:endParaRPr dirty="0"/>
          </a:p>
        </p:txBody>
      </p:sp>
      <p:sp>
        <p:nvSpPr>
          <p:cNvPr id="698553044" name="object 7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10765908" y="5942481"/>
            <a:ext cx="693449" cy="3024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099">
              <a:lnSpc>
                <a:spcPts val="2379"/>
              </a:lnSpc>
              <a:defRPr/>
            </a:pPr>
            <a:fld id="{EC2A81F4-889F-DA5F-C963-A45F70E75F19}" type="slidenum">
              <a:rPr/>
              <a:t>14</a:t>
            </a:fld>
            <a:endParaRPr/>
          </a:p>
        </p:txBody>
      </p:sp>
      <p:pic>
        <p:nvPicPr>
          <p:cNvPr id="7" name="Рисунок 6"/>
          <p:cNvPicPr/>
          <p:nvPr/>
        </p:nvPicPr>
        <p:blipFill rotWithShape="1">
          <a:blip r:embed="rId3"/>
          <a:srcRect t="5855" b="2108"/>
          <a:stretch/>
        </p:blipFill>
        <p:spPr bwMode="auto">
          <a:xfrm>
            <a:off x="169201" y="1143000"/>
            <a:ext cx="5871845" cy="46482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9" name="Рисунок 8"/>
          <p:cNvPicPr/>
          <p:nvPr/>
        </p:nvPicPr>
        <p:blipFill rotWithShape="1">
          <a:blip r:embed="rId4"/>
          <a:srcRect t="4244"/>
          <a:stretch/>
        </p:blipFill>
        <p:spPr bwMode="auto">
          <a:xfrm>
            <a:off x="6324600" y="1093433"/>
            <a:ext cx="5334000" cy="47244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TextBox 11"/>
          <p:cNvSpPr txBox="1"/>
          <p:nvPr/>
        </p:nvSpPr>
        <p:spPr bwMode="auto">
          <a:xfrm>
            <a:off x="914400" y="5791200"/>
            <a:ext cx="5050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dirty="0">
                <a:latin typeface="Times New Roman"/>
                <a:cs typeface="Times New Roman"/>
              </a:rPr>
              <a:t>Рисунок </a:t>
            </a:r>
            <a:r>
              <a:rPr lang="ru-RU" dirty="0" smtClean="0">
                <a:latin typeface="Times New Roman"/>
                <a:cs typeface="Times New Roman"/>
              </a:rPr>
              <a:t>16 </a:t>
            </a:r>
            <a:r>
              <a:rPr lang="ru-RU" dirty="0">
                <a:latin typeface="Times New Roman"/>
                <a:cs typeface="Times New Roman"/>
              </a:rPr>
              <a:t>– </a:t>
            </a:r>
            <a:r>
              <a:rPr lang="ru-RU" dirty="0" smtClean="0">
                <a:latin typeface="Times New Roman"/>
                <a:cs typeface="Times New Roman"/>
              </a:rPr>
              <a:t>Запрос на регистрацию</a:t>
            </a:r>
            <a:endParaRPr lang="ru-RU" dirty="0">
              <a:latin typeface="Times New Roman"/>
              <a:cs typeface="Times New Roman"/>
            </a:endParaRPr>
          </a:p>
        </p:txBody>
      </p:sp>
      <p:sp>
        <p:nvSpPr>
          <p:cNvPr id="8" name="TextBox 11"/>
          <p:cNvSpPr txBox="1"/>
          <p:nvPr/>
        </p:nvSpPr>
        <p:spPr bwMode="auto">
          <a:xfrm>
            <a:off x="6466377" y="5794608"/>
            <a:ext cx="38968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dirty="0">
                <a:latin typeface="Times New Roman"/>
                <a:cs typeface="Times New Roman"/>
              </a:rPr>
              <a:t>Рисунок </a:t>
            </a:r>
            <a:r>
              <a:rPr lang="ru-RU" dirty="0" smtClean="0">
                <a:latin typeface="Times New Roman"/>
                <a:cs typeface="Times New Roman"/>
              </a:rPr>
              <a:t>17 </a:t>
            </a:r>
            <a:r>
              <a:rPr lang="ru-RU" dirty="0">
                <a:latin typeface="Times New Roman"/>
                <a:cs typeface="Times New Roman"/>
              </a:rPr>
              <a:t>– </a:t>
            </a:r>
            <a:r>
              <a:rPr lang="ru-RU" dirty="0" smtClean="0">
                <a:latin typeface="Times New Roman"/>
                <a:cs typeface="Times New Roman"/>
              </a:rPr>
              <a:t>Запрос на получение всей информации по событию</a:t>
            </a:r>
            <a:endParaRPr lang="ru-RU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421406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xmlns:w="http://schemas.openxmlformats.org/wordprocessingml/2006/main" xmlns:m="http://schemas.openxmlformats.org/officeDocument/2006/math" xmlns="" Requires="p159">
      <p:transition p14:dur="2000" advClick="1"/>
    </mc:Choice>
    <mc:Fallback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9707952" name="object 2"/>
          <p:cNvSpPr txBox="1">
            <a:spLocks noGrp="1"/>
          </p:cNvSpPr>
          <p:nvPr>
            <p:ph type="title"/>
          </p:nvPr>
        </p:nvSpPr>
        <p:spPr bwMode="auto">
          <a:xfrm>
            <a:off x="1975360" y="304800"/>
            <a:ext cx="8131371" cy="382155"/>
          </a:xfrm>
          <a:prstGeom prst="rect">
            <a:avLst/>
          </a:prstGeom>
        </p:spPr>
        <p:txBody>
          <a:bodyPr vert="horz" wrap="square" lIns="0" tIns="12699" rIns="0" bIns="0" rtlCol="0">
            <a:spAutoFit/>
          </a:bodyPr>
          <a:lstStyle/>
          <a:p>
            <a:pPr marL="217170" algn="ctr">
              <a:lnSpc>
                <a:spcPct val="100000"/>
              </a:lnSpc>
              <a:spcBef>
                <a:spcPts val="99"/>
              </a:spcBef>
              <a:defRPr/>
            </a:pPr>
            <a:r>
              <a:rPr lang="ru-RU" dirty="0" smtClean="0"/>
              <a:t>Модульное тестирование</a:t>
            </a:r>
            <a:endParaRPr dirty="0"/>
          </a:p>
        </p:txBody>
      </p:sp>
      <p:sp>
        <p:nvSpPr>
          <p:cNvPr id="698553044" name="object 7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10765908" y="5942481"/>
            <a:ext cx="693449" cy="3024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099">
              <a:lnSpc>
                <a:spcPts val="2379"/>
              </a:lnSpc>
              <a:defRPr/>
            </a:pPr>
            <a:fld id="{EC2A81F4-889F-DA5F-C963-A45F70E75F19}" type="slidenum">
              <a:rPr/>
              <a:t>15</a:t>
            </a:fld>
            <a:endParaRPr/>
          </a:p>
        </p:txBody>
      </p:sp>
      <p:pic>
        <p:nvPicPr>
          <p:cNvPr id="6" name="Рисунок 5"/>
          <p:cNvPicPr/>
          <p:nvPr/>
        </p:nvPicPr>
        <p:blipFill rotWithShape="1">
          <a:blip r:embed="rId3"/>
          <a:srcRect t="7982"/>
          <a:stretch/>
        </p:blipFill>
        <p:spPr bwMode="auto">
          <a:xfrm>
            <a:off x="304800" y="1244122"/>
            <a:ext cx="5880735" cy="442154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Рисунок 7"/>
          <p:cNvPicPr/>
          <p:nvPr/>
        </p:nvPicPr>
        <p:blipFill rotWithShape="1">
          <a:blip r:embed="rId4"/>
          <a:srcRect t="7409"/>
          <a:stretch/>
        </p:blipFill>
        <p:spPr bwMode="auto">
          <a:xfrm>
            <a:off x="6324600" y="1244862"/>
            <a:ext cx="5497830" cy="449425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TextBox 11"/>
          <p:cNvSpPr txBox="1"/>
          <p:nvPr/>
        </p:nvSpPr>
        <p:spPr bwMode="auto">
          <a:xfrm>
            <a:off x="444495" y="5757815"/>
            <a:ext cx="556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dirty="0">
                <a:latin typeface="Times New Roman"/>
                <a:cs typeface="Times New Roman"/>
              </a:rPr>
              <a:t>Рисунок </a:t>
            </a:r>
            <a:r>
              <a:rPr lang="ru-RU" dirty="0" smtClean="0">
                <a:latin typeface="Times New Roman"/>
                <a:cs typeface="Times New Roman"/>
              </a:rPr>
              <a:t>18 </a:t>
            </a:r>
            <a:r>
              <a:rPr lang="ru-RU" dirty="0">
                <a:latin typeface="Times New Roman"/>
                <a:cs typeface="Times New Roman"/>
              </a:rPr>
              <a:t>– </a:t>
            </a:r>
            <a:r>
              <a:rPr lang="ru-RU" dirty="0" smtClean="0">
                <a:latin typeface="Times New Roman"/>
                <a:cs typeface="Times New Roman"/>
              </a:rPr>
              <a:t>Юнит-тесты для функционала расходов</a:t>
            </a:r>
            <a:endParaRPr lang="ru-RU" dirty="0">
              <a:latin typeface="Times New Roman"/>
              <a:cs typeface="Times New Roman"/>
            </a:endParaRPr>
          </a:p>
        </p:txBody>
      </p:sp>
      <p:sp>
        <p:nvSpPr>
          <p:cNvPr id="9" name="TextBox 11"/>
          <p:cNvSpPr txBox="1"/>
          <p:nvPr/>
        </p:nvSpPr>
        <p:spPr bwMode="auto">
          <a:xfrm>
            <a:off x="6398895" y="5665664"/>
            <a:ext cx="556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dirty="0">
                <a:latin typeface="Times New Roman"/>
                <a:cs typeface="Times New Roman"/>
              </a:rPr>
              <a:t>Рисунок </a:t>
            </a:r>
            <a:r>
              <a:rPr lang="ru-RU" dirty="0" smtClean="0">
                <a:latin typeface="Times New Roman"/>
                <a:cs typeface="Times New Roman"/>
              </a:rPr>
              <a:t>19 </a:t>
            </a:r>
            <a:r>
              <a:rPr lang="ru-RU" dirty="0">
                <a:latin typeface="Times New Roman"/>
                <a:cs typeface="Times New Roman"/>
              </a:rPr>
              <a:t>– </a:t>
            </a:r>
            <a:r>
              <a:rPr lang="ru-RU" dirty="0" smtClean="0">
                <a:latin typeface="Times New Roman"/>
                <a:cs typeface="Times New Roman"/>
              </a:rPr>
              <a:t>Юнит-тесты для управления задачами</a:t>
            </a:r>
            <a:endParaRPr lang="ru-RU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951190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xmlns:w="http://schemas.openxmlformats.org/wordprocessingml/2006/main" xmlns:m="http://schemas.openxmlformats.org/officeDocument/2006/math" xmlns="" Requires="p159">
      <p:transition p14:dur="2000" advClick="1"/>
    </mc:Choice>
    <mc:Fallback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9707952" name="object 2"/>
          <p:cNvSpPr txBox="1">
            <a:spLocks noGrp="1"/>
          </p:cNvSpPr>
          <p:nvPr>
            <p:ph type="title"/>
          </p:nvPr>
        </p:nvSpPr>
        <p:spPr bwMode="auto">
          <a:xfrm>
            <a:off x="1975360" y="304800"/>
            <a:ext cx="8131371" cy="382155"/>
          </a:xfrm>
          <a:prstGeom prst="rect">
            <a:avLst/>
          </a:prstGeom>
        </p:spPr>
        <p:txBody>
          <a:bodyPr vert="horz" wrap="square" lIns="0" tIns="12699" rIns="0" bIns="0" rtlCol="0">
            <a:spAutoFit/>
          </a:bodyPr>
          <a:lstStyle/>
          <a:p>
            <a:pPr marL="217170" algn="ctr">
              <a:lnSpc>
                <a:spcPct val="100000"/>
              </a:lnSpc>
              <a:spcBef>
                <a:spcPts val="99"/>
              </a:spcBef>
              <a:defRPr/>
            </a:pPr>
            <a:r>
              <a:rPr lang="ru-RU" dirty="0" smtClean="0"/>
              <a:t>Расчет вычислительной и емкостной сложности</a:t>
            </a:r>
            <a:endParaRPr dirty="0"/>
          </a:p>
        </p:txBody>
      </p:sp>
      <p:sp>
        <p:nvSpPr>
          <p:cNvPr id="698553044" name="object 7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10765908" y="5942481"/>
            <a:ext cx="693449" cy="3024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099">
              <a:lnSpc>
                <a:spcPts val="2379"/>
              </a:lnSpc>
              <a:defRPr/>
            </a:pPr>
            <a:fld id="{EC2A81F4-889F-DA5F-C963-A45F70E75F19}" type="slidenum">
              <a:rPr/>
              <a:t>16</a:t>
            </a:fld>
            <a:endParaRPr/>
          </a:p>
        </p:txBody>
      </p:sp>
      <p:graphicFrame>
        <p:nvGraphicFramePr>
          <p:cNvPr id="5" name="Объект 2">
            <a:extLst>
              <a:ext uri="{FF2B5EF4-FFF2-40B4-BE49-F238E27FC236}">
                <a16:creationId xmlns:a16="http://schemas.microsoft.com/office/drawing/2014/main" id="{422C8F96-436E-3056-41AD-4262E6F1B8D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09753180"/>
              </p:ext>
            </p:extLst>
          </p:nvPr>
        </p:nvGraphicFramePr>
        <p:xfrm>
          <a:off x="1600200" y="1371601"/>
          <a:ext cx="9165708" cy="3810000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3300093">
                  <a:extLst>
                    <a:ext uri="{9D8B030D-6E8A-4147-A177-3AD203B41FA5}">
                      <a16:colId xmlns:a16="http://schemas.microsoft.com/office/drawing/2014/main" val="2353342050"/>
                    </a:ext>
                  </a:extLst>
                </a:gridCol>
                <a:gridCol w="2126972">
                  <a:extLst>
                    <a:ext uri="{9D8B030D-6E8A-4147-A177-3AD203B41FA5}">
                      <a16:colId xmlns:a16="http://schemas.microsoft.com/office/drawing/2014/main" val="889618764"/>
                    </a:ext>
                  </a:extLst>
                </a:gridCol>
                <a:gridCol w="1852466">
                  <a:extLst>
                    <a:ext uri="{9D8B030D-6E8A-4147-A177-3AD203B41FA5}">
                      <a16:colId xmlns:a16="http://schemas.microsoft.com/office/drawing/2014/main" val="2687968785"/>
                    </a:ext>
                  </a:extLst>
                </a:gridCol>
                <a:gridCol w="1886177">
                  <a:extLst>
                    <a:ext uri="{9D8B030D-6E8A-4147-A177-3AD203B41FA5}">
                      <a16:colId xmlns:a16="http://schemas.microsoft.com/office/drawing/2014/main" val="2765687997"/>
                    </a:ext>
                  </a:extLst>
                </a:gridCol>
              </a:tblGrid>
              <a:tr h="589768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ru-RU" sz="1800" b="1" i="0" u="none" strike="noStrike" cap="none" spc="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Функция</a:t>
                      </a:r>
                    </a:p>
                  </a:txBody>
                  <a:tcPr marL="59115" marR="5911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ru-RU" sz="1800" b="1" i="0" u="none" strike="noStrike" cap="none" spc="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Описание</a:t>
                      </a:r>
                    </a:p>
                  </a:txBody>
                  <a:tcPr marL="59115" marR="5911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ru-RU" sz="1800" b="1" i="0" u="none" strike="noStrike" cap="none" spc="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</a:t>
                      </a:r>
                    </a:p>
                  </a:txBody>
                  <a:tcPr marL="59115" marR="5911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ru-RU" sz="1800" b="1" i="0" u="none" strike="noStrike" cap="none" spc="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</a:t>
                      </a:r>
                    </a:p>
                  </a:txBody>
                  <a:tcPr marL="59115" marR="5911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2373450"/>
                  </a:ext>
                </a:extLst>
              </a:tr>
              <a:tr h="1431214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ru-RU" sz="1800" b="0" i="0" u="none" strike="noStrike" cap="none" spc="0" dirty="0" err="1" smtClean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List</a:t>
                      </a:r>
                      <a:r>
                        <a:rPr lang="en-US" sz="1800" b="0" i="0" u="none" strike="noStrike" cap="none" spc="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Task</a:t>
                      </a:r>
                      <a:r>
                        <a:rPr lang="ru-RU" sz="1800" b="0" i="0" u="none" strike="noStrike" cap="none" spc="0" dirty="0" err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ByEvent</a:t>
                      </a:r>
                      <a:endParaRPr lang="ru-RU" sz="1800" b="0" i="0" u="none" strike="noStrike" cap="none" spc="0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115" marR="5911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ru-RU" sz="1800" b="0" i="0" u="none" strike="noStrike" cap="none" spc="0" dirty="0" smtClean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Метод </a:t>
                      </a:r>
                      <a:r>
                        <a:rPr lang="ru-RU" sz="1800" b="0" i="0" u="none" strike="noStrike" cap="none" spc="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получения списка задач по событию</a:t>
                      </a:r>
                    </a:p>
                  </a:txBody>
                  <a:tcPr marL="59115" marR="5911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ru-RU" sz="1800" b="0" i="0" u="none" strike="noStrike" cap="none" spc="0" dirty="0" smtClean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O(n</a:t>
                      </a:r>
                      <a:r>
                        <a:rPr lang="ru-RU" sz="1800" b="0" i="0" u="none" strike="noStrike" cap="none" spc="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)</a:t>
                      </a:r>
                    </a:p>
                  </a:txBody>
                  <a:tcPr marL="59115" marR="5911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ru-RU" sz="1800" b="0" i="0" u="none" strike="noStrike" cap="none" spc="0" dirty="0" smtClean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O(n</a:t>
                      </a:r>
                      <a:r>
                        <a:rPr lang="ru-RU" sz="1800" b="0" i="0" u="none" strike="noStrike" cap="none" spc="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)</a:t>
                      </a:r>
                    </a:p>
                  </a:txBody>
                  <a:tcPr marL="59115" marR="5911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9315390"/>
                  </a:ext>
                </a:extLst>
              </a:tr>
              <a:tr h="1789018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ru-RU" sz="1800" b="0" i="0" u="none" strike="noStrike" cap="none" spc="0" dirty="0" err="1" smtClean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GetEventBalanceReport</a:t>
                      </a:r>
                      <a:endParaRPr lang="ru-RU" sz="1800" b="0" i="0" u="none" strike="noStrike" cap="none" spc="0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9115" marR="5911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ru-RU" sz="1800" b="0" i="0" u="none" strike="noStrike" cap="none" spc="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Метод получения баланса пользователей в событии</a:t>
                      </a:r>
                    </a:p>
                  </a:txBody>
                  <a:tcPr marL="59115" marR="5911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ru-RU" sz="1800" b="0" i="0" u="none" strike="noStrike" cap="none" spc="0" dirty="0" smtClean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O(</a:t>
                      </a:r>
                      <a:r>
                        <a:rPr lang="ru-RU" sz="1800" b="0" i="0" u="none" strike="noStrike" cap="none" spc="0" dirty="0" err="1" smtClean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n+k</a:t>
                      </a:r>
                      <a:r>
                        <a:rPr lang="ru-RU" sz="1800" b="0" i="0" u="none" strike="noStrike" cap="none" spc="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)</a:t>
                      </a:r>
                    </a:p>
                  </a:txBody>
                  <a:tcPr marL="59115" marR="5911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ru-RU" sz="1800" b="0" i="0" u="none" strike="noStrike" cap="none" spc="0" dirty="0" smtClean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O(k</a:t>
                      </a:r>
                      <a:r>
                        <a:rPr lang="ru-RU" sz="1800" b="0" i="0" u="none" strike="noStrike" cap="none" spc="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)</a:t>
                      </a:r>
                    </a:p>
                  </a:txBody>
                  <a:tcPr marL="59115" marR="5911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7270474"/>
                  </a:ext>
                </a:extLst>
              </a:tr>
            </a:tbl>
          </a:graphicData>
        </a:graphic>
      </p:graphicFrame>
      <p:sp>
        <p:nvSpPr>
          <p:cNvPr id="3" name="Прямоугольник 2"/>
          <p:cNvSpPr/>
          <p:nvPr/>
        </p:nvSpPr>
        <p:spPr>
          <a:xfrm>
            <a:off x="1524000" y="901224"/>
            <a:ext cx="54088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</a:rPr>
              <a:t>Таблица </a:t>
            </a:r>
            <a:r>
              <a:rPr lang="ru-RU" dirty="0" smtClean="0">
                <a:latin typeface="Times New Roman" panose="02020603050405020304" pitchFamily="18" charset="0"/>
              </a:rPr>
              <a:t>3 </a:t>
            </a:r>
            <a:r>
              <a:rPr lang="ru-RU" dirty="0">
                <a:latin typeface="Times New Roman" panose="02020603050405020304" pitchFamily="18" charset="0"/>
              </a:rPr>
              <a:t>– </a:t>
            </a:r>
            <a:r>
              <a:rPr lang="ru-RU" dirty="0" smtClean="0">
                <a:latin typeface="Times New Roman" panose="02020603050405020304" pitchFamily="18" charset="0"/>
              </a:rPr>
              <a:t>Вычислительная и емкостная сложность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170511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xmlns:w="http://schemas.openxmlformats.org/wordprocessingml/2006/main" xmlns:m="http://schemas.openxmlformats.org/officeDocument/2006/math" xmlns="" Requires="p159">
      <p:transition p14:dur="2000" advClick="1"/>
    </mc:Choice>
    <mc:Fallback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9707952" name="object 2"/>
          <p:cNvSpPr txBox="1">
            <a:spLocks noGrp="1"/>
          </p:cNvSpPr>
          <p:nvPr>
            <p:ph type="title"/>
          </p:nvPr>
        </p:nvSpPr>
        <p:spPr bwMode="auto">
          <a:xfrm>
            <a:off x="1981200" y="450226"/>
            <a:ext cx="8131371" cy="382155"/>
          </a:xfrm>
          <a:prstGeom prst="rect">
            <a:avLst/>
          </a:prstGeom>
        </p:spPr>
        <p:txBody>
          <a:bodyPr vert="horz" wrap="square" lIns="0" tIns="12699" rIns="0" bIns="0" rtlCol="0">
            <a:spAutoFit/>
          </a:bodyPr>
          <a:lstStyle/>
          <a:p>
            <a:pPr marL="217170" algn="ctr">
              <a:lnSpc>
                <a:spcPct val="100000"/>
              </a:lnSpc>
              <a:spcBef>
                <a:spcPts val="99"/>
              </a:spcBef>
              <a:defRPr/>
            </a:pPr>
            <a:r>
              <a:rPr lang="ru-RU" dirty="0"/>
              <a:t>Результаты</a:t>
            </a:r>
            <a:endParaRPr dirty="0"/>
          </a:p>
        </p:txBody>
      </p:sp>
      <p:sp>
        <p:nvSpPr>
          <p:cNvPr id="698553044" name="object 7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10765908" y="5942481"/>
            <a:ext cx="693449" cy="3024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099">
              <a:lnSpc>
                <a:spcPts val="2379"/>
              </a:lnSpc>
              <a:defRPr/>
            </a:pPr>
            <a:fld id="{EC2A81F4-889F-DA5F-C963-A45F70E75F19}" type="slidenum">
              <a:rPr/>
              <a:t>17</a:t>
            </a:fld>
            <a:endParaRPr/>
          </a:p>
        </p:txBody>
      </p:sp>
      <p:sp>
        <p:nvSpPr>
          <p:cNvPr id="6" name="Объект 2"/>
          <p:cNvSpPr txBox="1">
            <a:spLocks/>
          </p:cNvSpPr>
          <p:nvPr/>
        </p:nvSpPr>
        <p:spPr bwMode="auto">
          <a:xfrm>
            <a:off x="838200" y="1446373"/>
            <a:ext cx="9873343" cy="4906167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>
            <a:lvl1pPr marL="0">
              <a:defRPr sz="18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457200" indent="-457200" algn="just">
              <a:lnSpc>
                <a:spcPct val="120000"/>
              </a:lnSpc>
              <a:buFontTx/>
              <a:buAutoNum type="arabicPeriod"/>
              <a:defRPr/>
            </a:pPr>
            <a:r>
              <a:rPr lang="ru-RU" sz="2200" dirty="0" smtClean="0"/>
              <a:t>Был проведен аналитический обзор готовых решений, использующихся на рынке, а также проведено сравнение аналогов </a:t>
            </a:r>
            <a:r>
              <a:rPr lang="ru-RU" sz="2200" spc="-9" dirty="0">
                <a:ea typeface="Times New Roman"/>
              </a:rPr>
              <a:t>(</a:t>
            </a:r>
            <a:r>
              <a:rPr lang="en-US" sz="2200" spc="-9" dirty="0">
                <a:ea typeface="Times New Roman"/>
              </a:rPr>
              <a:t>Trello, </a:t>
            </a:r>
            <a:r>
              <a:rPr lang="en-US" sz="2200" spc="-9" dirty="0" err="1">
                <a:ea typeface="Times New Roman"/>
              </a:rPr>
              <a:t>Splitwise</a:t>
            </a:r>
            <a:r>
              <a:rPr lang="en-US" sz="2200" spc="-9" dirty="0">
                <a:ea typeface="Times New Roman"/>
              </a:rPr>
              <a:t>, Asana</a:t>
            </a:r>
            <a:r>
              <a:rPr lang="ru-RU" sz="2200" spc="-9" dirty="0" smtClean="0">
                <a:ea typeface="Times New Roman"/>
              </a:rPr>
              <a:t>)</a:t>
            </a:r>
            <a:r>
              <a:rPr lang="ru-RU" sz="2200" dirty="0" smtClean="0"/>
              <a:t>.</a:t>
            </a:r>
          </a:p>
          <a:p>
            <a:pPr marL="457200" indent="-457200" algn="just">
              <a:lnSpc>
                <a:spcPct val="120000"/>
              </a:lnSpc>
              <a:buFontTx/>
              <a:buAutoNum type="arabicPeriod"/>
              <a:defRPr/>
            </a:pPr>
            <a:r>
              <a:rPr lang="ru-RU" sz="2200" dirty="0"/>
              <a:t>Составлены требования к информационной системе</a:t>
            </a:r>
            <a:r>
              <a:rPr lang="en-US" sz="2200" dirty="0" smtClean="0"/>
              <a:t>.</a:t>
            </a:r>
            <a:endParaRPr lang="ru-RU" sz="2200" dirty="0" smtClean="0"/>
          </a:p>
          <a:p>
            <a:pPr marL="457200" indent="-457200" algn="just">
              <a:lnSpc>
                <a:spcPct val="120000"/>
              </a:lnSpc>
              <a:buFontTx/>
              <a:buAutoNum type="arabicPeriod"/>
              <a:defRPr/>
            </a:pPr>
            <a:r>
              <a:rPr lang="ru-RU" sz="2200" dirty="0" smtClean="0"/>
              <a:t>Разработана архитектура приложения. </a:t>
            </a:r>
          </a:p>
          <a:p>
            <a:pPr marL="457200" indent="-457200" algn="just">
              <a:lnSpc>
                <a:spcPct val="120000"/>
              </a:lnSpc>
              <a:buFontTx/>
              <a:buAutoNum type="arabicPeriod"/>
              <a:defRPr/>
            </a:pPr>
            <a:r>
              <a:rPr lang="ru-RU" sz="2200" dirty="0"/>
              <a:t>Выполнена реализация и тестирование </a:t>
            </a:r>
            <a:r>
              <a:rPr lang="ru-RU" sz="2200" dirty="0" smtClean="0"/>
              <a:t>веб-приложения, которое улучшает и «закрывает» недостатки конкурентных решений для управления мероприятиями.</a:t>
            </a:r>
          </a:p>
          <a:p>
            <a:pPr marL="457200" indent="-457200" algn="just">
              <a:lnSpc>
                <a:spcPct val="120000"/>
              </a:lnSpc>
              <a:buFontTx/>
              <a:buAutoNum type="arabicPeriod"/>
              <a:defRPr/>
            </a:pPr>
            <a:endParaRPr lang="ru-RU" sz="2400" dirty="0" smtClean="0"/>
          </a:p>
          <a:p>
            <a:pPr algn="just">
              <a:lnSpc>
                <a:spcPct val="120000"/>
              </a:lnSpc>
              <a:defRPr/>
            </a:pPr>
            <a:r>
              <a:rPr lang="ru-RU" sz="2400" b="1" dirty="0"/>
              <a:t>Цель по </a:t>
            </a:r>
            <a:r>
              <a:rPr lang="ru-RU" sz="2400" b="1" dirty="0" smtClean="0"/>
              <a:t>разработке и проектированию </a:t>
            </a:r>
            <a:r>
              <a:rPr lang="ru-RU" sz="2400" dirty="0" smtClean="0">
                <a:solidFill>
                  <a:srgbClr val="000000"/>
                </a:solidFill>
              </a:rPr>
              <a:t>веб-приложения для управления групповыми мероприятиями с функциями разделения бюджета и отслеживания задач </a:t>
            </a:r>
            <a:r>
              <a:rPr lang="ru-RU" sz="2400" dirty="0" smtClean="0"/>
              <a:t>достигнута</a:t>
            </a:r>
            <a:r>
              <a:rPr lang="ru-RU" sz="2400" dirty="0"/>
              <a:t>.</a:t>
            </a:r>
          </a:p>
          <a:p>
            <a:pPr marL="457200" indent="-457200" algn="just">
              <a:lnSpc>
                <a:spcPct val="120000"/>
              </a:lnSpc>
              <a:buFontTx/>
              <a:buAutoNum type="arabicPeriod"/>
              <a:defRPr/>
            </a:pP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7231703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xmlns:w="http://schemas.openxmlformats.org/wordprocessingml/2006/main" xmlns:m="http://schemas.openxmlformats.org/officeDocument/2006/math" xmlns="" Requires="p159">
      <p:transition p14:dur="2000" advClick="1"/>
    </mc:Choice>
    <mc:Fallback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 bwMode="auto">
          <a:xfrm>
            <a:off x="2409189" y="2693365"/>
            <a:ext cx="7442834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defRPr/>
            </a:pPr>
            <a:r>
              <a:rPr sz="4400" spc="-50"/>
              <a:t>СПАСИБО</a:t>
            </a:r>
            <a:r>
              <a:rPr sz="4400" spc="20"/>
              <a:t> </a:t>
            </a:r>
            <a:r>
              <a:rPr sz="4400" spc="-5"/>
              <a:t>ЗА</a:t>
            </a:r>
            <a:r>
              <a:rPr sz="4400" spc="-25"/>
              <a:t> </a:t>
            </a:r>
            <a:r>
              <a:rPr sz="4400" spc="-15"/>
              <a:t>ВНИМАНИЕ!</a:t>
            </a:r>
            <a:endParaRPr sz="4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xmlns:w="http://schemas.openxmlformats.org/wordprocessingml/2006/main" xmlns:m="http://schemas.openxmlformats.org/officeDocument/2006/math" xmlns="" Requires="p159">
      <p:transition p14:dur="2000" advClick="1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510</TotalTime>
  <Words>677</Words>
  <Application>Microsoft Office PowerPoint</Application>
  <DocSecurity>0</DocSecurity>
  <PresentationFormat>Широкоэкранный</PresentationFormat>
  <Paragraphs>183</Paragraphs>
  <Slides>18</Slides>
  <Notes>18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2" baseType="lpstr">
      <vt:lpstr>Arial</vt:lpstr>
      <vt:lpstr>Calibri</vt:lpstr>
      <vt:lpstr>Times New Roman</vt:lpstr>
      <vt:lpstr>Office Theme</vt:lpstr>
      <vt:lpstr>Презентация PowerPoint</vt:lpstr>
      <vt:lpstr>Цель, актуальность и задачи</vt:lpstr>
      <vt:lpstr>Объект и предмет исследования</vt:lpstr>
      <vt:lpstr>Анализ предметной области</vt:lpstr>
      <vt:lpstr>Анализ предметной области</vt:lpstr>
      <vt:lpstr>Разработка требований</vt:lpstr>
      <vt:lpstr>Выбор средств разработки</vt:lpstr>
      <vt:lpstr>Проектирование функциональной схемы</vt:lpstr>
      <vt:lpstr>Проектирование архитектуры информационной системы</vt:lpstr>
      <vt:lpstr>Разработка диаграмм логической модели системы</vt:lpstr>
      <vt:lpstr>Проектирование схемы базы данных</vt:lpstr>
      <vt:lpstr>Диаграммы вариантов использования и дерево функций</vt:lpstr>
      <vt:lpstr>Разработанные страницы</vt:lpstr>
      <vt:lpstr>Тестирование в Postman</vt:lpstr>
      <vt:lpstr>Модульное тестирование</vt:lpstr>
      <vt:lpstr>Расчет вычислительной и емкостной сложности</vt:lpstr>
      <vt:lpstr>Результаты</vt:lpstr>
      <vt:lpstr>СПАСИБО ЗА ВНИМАНИЕ!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Парусов Павел</dc:creator>
  <cp:keywords/>
  <dc:description/>
  <cp:lastModifiedBy>Павел Парусов</cp:lastModifiedBy>
  <cp:revision>45</cp:revision>
  <dcterms:created xsi:type="dcterms:W3CDTF">2023-05-17T15:39:40Z</dcterms:created>
  <dcterms:modified xsi:type="dcterms:W3CDTF">2025-05-17T13:04:28Z</dcterms:modified>
  <cp:category/>
  <dc:identifier/>
  <cp:contentStatus/>
  <dc:language/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2022-12-11T00:00:00Z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2023-05-17T00:00:00Z</vt:filetime>
  </property>
</Properties>
</file>